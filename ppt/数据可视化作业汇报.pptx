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STU-VAD/Assignment-2" TargetMode="External"/><Relationship Id="rId3" Type="http://schemas.openxmlformats.org/officeDocument/2006/relationships/hyperlink" Target="https://stu-vad.github.io/Assignment-2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hyperlink" Target="https://observablehq.com/@d3/chord-diagra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hyperlink" Target="https://observablehq.com/@d3/zoomable-sunburst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hyperlink" Target="https://observablehq.com/@d3/world-earthquakes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hyperlink" Target="https://observablehq.com/@d3/bubble-map/2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STU-VAD/Assignment-2" TargetMode="External"/><Relationship Id="rId3" Type="http://schemas.openxmlformats.org/officeDocument/2006/relationships/hyperlink" Target="https://stu-vad.github.io/Assignment-2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286000" y="1097280"/>
            <a:ext cx="4572000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Arial"/>
              </a:defRPr>
            </a:pPr>
            <a:r>
              <a:t>D3.js 图表改进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00D4FF"/>
                </a:solidFill>
                <a:latin typeface="Arial"/>
              </a:defRPr>
            </a:pPr>
            <a:r>
              <a:t>数据可视化作业汇报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9260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A0B8"/>
                </a:solidFill>
                <a:latin typeface="Arial"/>
              </a:defRPr>
            </a:pPr>
            <a:r>
              <a:t>罗展彬 · 黄应辉 · 钱俊企 · 李舒达 · 丁晨洋 · 卢仪曾 · 郑逸驰 · 李芝轩 · 孙海骏 · 何键韬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918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A0B8"/>
                </a:solidFill>
                <a:latin typeface="Arial"/>
              </a:defRPr>
            </a:pPr>
            <a:r>
              <a:t>2026 年 5 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84048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5A6A8A"/>
                </a:solidFill>
                <a:latin typeface="Arial"/>
              </a:rPr>
              <a:t>仓库：</a:t>
            </a:r>
            <a:r>
              <a:rPr sz="1000">
                <a:solidFill>
                  <a:srgbClr val="00D4FF"/>
                </a:solidFill>
                <a:latin typeface="Arial"/>
                <a:hlinkClick r:id="rId2"/>
              </a:rPr>
              <a:t>github.com/STU-VAD/Assignment-2</a:t>
            </a:r>
            <a:r>
              <a:rPr sz="1000">
                <a:solidFill>
                  <a:srgbClr val="5A6A8A"/>
                </a:solidFill>
                <a:latin typeface="Arial"/>
              </a:rPr>
              <a:t>    演示：</a:t>
            </a:r>
            <a:r>
              <a:rPr sz="1000">
                <a:solidFill>
                  <a:srgbClr val="00D4FF"/>
                </a:solidFill>
                <a:latin typeface="Arial"/>
                <a:hlinkClick r:id="rId3"/>
              </a:rPr>
              <a:t>stu-vad.github.io/Assignment-2/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56032"/>
            <a:ext cx="45720" cy="32004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Arial"/>
              </a:defRPr>
            </a:pPr>
            <a:r>
              <a:t>项目概览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777240"/>
            <a:ext cx="3840480" cy="50292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777240"/>
            <a:ext cx="36576" cy="5029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804672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Arial"/>
              </a:defRPr>
            </a:pPr>
            <a:r>
              <a:t>Chart 1 — 弦图 Chord Diagram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033271"/>
            <a:ext cx="3474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D4FF"/>
                </a:solidFill>
                <a:latin typeface="Arial"/>
              </a:defRPr>
            </a:pPr>
            <a:r>
              <a:t>品牌间用户迁移流向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3840480" cy="50292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36576" cy="5029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399032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Arial"/>
              </a:defRPr>
            </a:pPr>
            <a:r>
              <a:t>Chart 2 — 旭日图 Zoomable Sunburst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627632"/>
            <a:ext cx="3474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D4FF"/>
                </a:solidFill>
                <a:latin typeface="Arial"/>
              </a:defRPr>
            </a:pPr>
            <a:r>
              <a:t>层级数据钻取探索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965960"/>
            <a:ext cx="3840480" cy="50292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965960"/>
            <a:ext cx="36576" cy="5029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1993391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Arial"/>
              </a:defRPr>
            </a:pPr>
            <a:r>
              <a:t>Chart 3 — 地震地图 QuakeSpotter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221991"/>
            <a:ext cx="3474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D4FF"/>
                </a:solidFill>
                <a:latin typeface="Arial"/>
              </a:defRPr>
            </a:pPr>
            <a:r>
              <a:t>全球地震数据可视化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560320"/>
            <a:ext cx="3840480" cy="50292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2560320"/>
            <a:ext cx="36576" cy="5029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Arial"/>
              </a:defRPr>
            </a:pPr>
            <a:r>
              <a:t>Chart 4 — 气泡地图 Bubble Map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816352"/>
            <a:ext cx="3474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D4FF"/>
                </a:solidFill>
                <a:latin typeface="Arial"/>
              </a:defRPr>
            </a:pPr>
            <a:r>
              <a:t>美国县级人口分布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777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D4FF"/>
                </a:solidFill>
                <a:latin typeface="Arial"/>
              </a:defRPr>
            </a:pPr>
            <a:r>
              <a:t>小组分工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11430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Arial"/>
              </a:defRPr>
            </a:pPr>
            <a:r>
              <a:t>罗展彬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1143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0D0E0"/>
                </a:solidFill>
                <a:latin typeface="Arial"/>
              </a:defRPr>
            </a:pPr>
            <a:r>
              <a:t>Chart2 旭日图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11430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00D4FF"/>
                </a:solidFill>
                <a:latin typeface="Arial"/>
              </a:defRPr>
            </a:pPr>
            <a:r>
              <a:t>17%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14630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Arial"/>
              </a:defRPr>
            </a:pPr>
            <a:r>
              <a:t>黄应辉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0" y="14630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0D0E0"/>
                </a:solidFill>
                <a:latin typeface="Arial"/>
              </a:defRPr>
            </a:pPr>
            <a:r>
              <a:t>统筹 · 报告 · PPT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14630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00D4FF"/>
                </a:solidFill>
                <a:latin typeface="Arial"/>
              </a:defRPr>
            </a:pPr>
            <a:r>
              <a:t>15%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1783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Arial"/>
              </a:defRPr>
            </a:pPr>
            <a:r>
              <a:t>钱俊企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52160" y="17830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0D0E0"/>
                </a:solidFill>
                <a:latin typeface="Arial"/>
              </a:defRPr>
            </a:pPr>
            <a:r>
              <a:t>Chart1 弦图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1783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00D4FF"/>
                </a:solidFill>
                <a:latin typeface="Arial"/>
              </a:defRPr>
            </a:pPr>
            <a:r>
              <a:t>14%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21031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Arial"/>
              </a:defRPr>
            </a:pPr>
            <a:r>
              <a:t>李舒达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52160" y="21031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0D0E0"/>
                </a:solidFill>
                <a:latin typeface="Arial"/>
              </a:defRPr>
            </a:pPr>
            <a:r>
              <a:t>Chart3 地震地图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0" y="21031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00D4FF"/>
                </a:solidFill>
                <a:latin typeface="Arial"/>
              </a:defRPr>
            </a:pPr>
            <a:r>
              <a:t>13%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0" y="24231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Arial"/>
              </a:defRPr>
            </a:pPr>
            <a:r>
              <a:t>丁晨洋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52160" y="24231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0D0E0"/>
                </a:solidFill>
                <a:latin typeface="Arial"/>
              </a:defRPr>
            </a:pPr>
            <a:r>
              <a:t>Chart4 气泡地图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24231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00D4FF"/>
                </a:solidFill>
                <a:latin typeface="Arial"/>
              </a:defRPr>
            </a:pPr>
            <a:r>
              <a:t>10.5%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54880" y="27432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Arial"/>
              </a:defRPr>
            </a:pPr>
            <a:r>
              <a:t>卢仪曾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52160" y="27432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0D0E0"/>
                </a:solidFill>
                <a:latin typeface="Arial"/>
              </a:defRPr>
            </a:pPr>
            <a:r>
              <a:t>Chart4 气泡地图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27432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00D4FF"/>
                </a:solidFill>
                <a:latin typeface="Arial"/>
              </a:defRPr>
            </a:pPr>
            <a:r>
              <a:t>10.5%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54880" y="30632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Arial"/>
              </a:defRPr>
            </a:pPr>
            <a:r>
              <a:t>郑逸驰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160" y="3063239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0D0E0"/>
                </a:solidFill>
                <a:latin typeface="Arial"/>
              </a:defRPr>
            </a:pPr>
            <a:r>
              <a:t>设计讨论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063239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00D4FF"/>
                </a:solidFill>
                <a:latin typeface="Arial"/>
              </a:defRPr>
            </a:pPr>
            <a:r>
              <a:t>5%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54880" y="338327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Arial"/>
              </a:defRPr>
            </a:pPr>
            <a:r>
              <a:t>李芝轩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52160" y="3383279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0D0E0"/>
                </a:solidFill>
                <a:latin typeface="Arial"/>
              </a:defRPr>
            </a:pPr>
            <a:r>
              <a:t>设计讨论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0" y="3383279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00D4FF"/>
                </a:solidFill>
                <a:latin typeface="Arial"/>
              </a:defRPr>
            </a:pPr>
            <a:r>
              <a:t>5%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7033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Arial"/>
              </a:defRPr>
            </a:pPr>
            <a:r>
              <a:t>孙海骏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52160" y="3703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0D0E0"/>
                </a:solidFill>
                <a:latin typeface="Arial"/>
              </a:defRPr>
            </a:pPr>
            <a:r>
              <a:t>设计讨论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72400" y="37033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00D4FF"/>
                </a:solidFill>
                <a:latin typeface="Arial"/>
              </a:defRPr>
            </a:pPr>
            <a:r>
              <a:t>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54880" y="40233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Arial"/>
              </a:defRPr>
            </a:pPr>
            <a:r>
              <a:t>何键韬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852160" y="4023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0D0E0"/>
                </a:solidFill>
                <a:latin typeface="Arial"/>
              </a:defRPr>
            </a:pPr>
            <a:r>
              <a:t>设计讨论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72400" y="4023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00D4FF"/>
                </a:solidFill>
                <a:latin typeface="Arial"/>
              </a:defRPr>
            </a:pPr>
            <a:r>
              <a:t>5%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56032"/>
            <a:ext cx="45720" cy="32004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Arial"/>
              </a:defRPr>
            </a:pPr>
            <a:r>
              <a:t>Chart 1 · 弦图 Chord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274320"/>
            <a:ext cx="1097280" cy="25603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1A1A2E"/>
                </a:solidFill>
                <a:latin typeface="Arial"/>
              </a:defRPr>
            </a:pPr>
            <a:r>
              <a:t>原图分析</a:t>
            </a:r>
          </a:p>
        </p:txBody>
      </p:sp>
      <p:pic>
        <p:nvPicPr>
          <p:cNvPr id="5" name="Picture 4" descr="chart1-ori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377" y="777240"/>
            <a:ext cx="1719965" cy="1645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246888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5A6A8A"/>
                </a:solidFill>
                <a:latin typeface="Arial"/>
              </a:defRPr>
            </a:pPr>
            <a:r>
              <a:t>原始弦图 — 正常视觉</a:t>
            </a:r>
          </a:p>
        </p:txBody>
      </p:sp>
      <p:pic>
        <p:nvPicPr>
          <p:cNvPr id="7" name="Picture 6" descr="original_chord_deuteranopi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3" y="2743200"/>
            <a:ext cx="1901952" cy="1188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3977639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5A6A8A"/>
                </a:solidFill>
                <a:latin typeface="Arial"/>
              </a:defRPr>
            </a:pPr>
            <a:r>
              <a:t>红色盲模拟 — 品红/粉色不可区分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777240"/>
            <a:ext cx="5303520" cy="475488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1  色盲不友好</a:t>
            </a:r>
          </a:p>
          <a:p>
            <a:pPr>
              <a:defRPr sz="900">
                <a:solidFill>
                  <a:srgbClr val="D0D0E0"/>
                </a:solidFill>
                <a:latin typeface="Arial"/>
              </a:defRPr>
            </a:pPr>
            <a:r>
              <a:t>d3.schemeCategory10 调色板，8% 男性有色觉障碍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777240"/>
            <a:ext cx="36576" cy="475488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291840" y="1417319"/>
            <a:ext cx="5303520" cy="475488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2  无方向编码</a:t>
            </a:r>
          </a:p>
          <a:p>
            <a:pPr>
              <a:defRPr sz="900">
                <a:solidFill>
                  <a:srgbClr val="D0D0E0"/>
                </a:solidFill>
                <a:latin typeface="Arial"/>
              </a:defRPr>
            </a:pPr>
            <a:r>
              <a:t>迁移弧纯色填充，分不清流入还是流出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1417319"/>
            <a:ext cx="36576" cy="475488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291840" y="2057400"/>
            <a:ext cx="5303520" cy="475488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3  忠实/流失用户混淆</a:t>
            </a:r>
          </a:p>
          <a:p>
            <a:pPr>
              <a:defRPr sz="900">
                <a:solidFill>
                  <a:srgbClr val="D0D0E0"/>
                </a:solidFill>
                <a:latin typeface="Arial"/>
              </a:defRPr>
            </a:pPr>
            <a:r>
              <a:t>内圈自环与品牌间切换流混在一起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40" y="2057400"/>
            <a:ext cx="36576" cy="475488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291840" y="2697479"/>
            <a:ext cx="5303520" cy="475488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4  信息粒度不足</a:t>
            </a:r>
          </a:p>
          <a:p>
            <a:pPr>
              <a:defRPr sz="900">
                <a:solidFill>
                  <a:srgbClr val="D0D0E0"/>
                </a:solidFill>
                <a:latin typeface="Arial"/>
              </a:defRPr>
            </a:pPr>
            <a:r>
              <a:t>想了解具体品牌时信息粗略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91840" y="2697479"/>
            <a:ext cx="36576" cy="475488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470916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>
                <a:solidFill>
                  <a:srgbClr val="5A6A8A"/>
                </a:solidFill>
                <a:latin typeface="Arial"/>
              </a:rPr>
              <a:t>原图来源：</a:t>
            </a:r>
            <a:r>
              <a:rPr sz="800">
                <a:solidFill>
                  <a:srgbClr val="00D4FF"/>
                </a:solidFill>
                <a:latin typeface="Arial"/>
                <a:hlinkClick r:id="rId4"/>
              </a:rPr>
              <a:t>https://observablehq.com/@d3/chord-diagram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56032"/>
            <a:ext cx="45720" cy="32004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Arial"/>
              </a:defRPr>
            </a:pPr>
            <a:r>
              <a:t>Chart 1 · 弦图改进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274320"/>
            <a:ext cx="1097280" cy="25603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1A1A2E"/>
                </a:solidFill>
                <a:latin typeface="Arial"/>
              </a:defRPr>
            </a:pPr>
            <a:r>
              <a:t>配色 · 方向 · 交互</a:t>
            </a:r>
          </a:p>
        </p:txBody>
      </p:sp>
      <p:pic>
        <p:nvPicPr>
          <p:cNvPr id="5" name="Picture 4" descr="colorblind_friend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928" y="777240"/>
            <a:ext cx="1522862" cy="1463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22860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5A6A8A"/>
                </a:solidFill>
                <a:latin typeface="Arial"/>
              </a:defRPr>
            </a:pPr>
            <a:r>
              <a:t>Tableau10 调色板 — 色相间距更大</a:t>
            </a:r>
          </a:p>
        </p:txBody>
      </p:sp>
      <p:pic>
        <p:nvPicPr>
          <p:cNvPr id="7" name="Picture 6" descr="hover_intera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590" y="2560320"/>
            <a:ext cx="1927538" cy="1463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406908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5A6A8A"/>
                </a:solidFill>
                <a:latin typeface="Arial"/>
              </a:defRPr>
            </a:pPr>
            <a:r>
              <a:t>悬停淡化非相关品牌，强化目标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777240"/>
            <a:ext cx="5303520" cy="475488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>
              <a:defRPr sz="1100" b="1">
                <a:solidFill>
                  <a:srgbClr val="00D4FF"/>
                </a:solidFill>
                <a:latin typeface="Arial"/>
              </a:defRPr>
            </a:pPr>
            <a:r>
              <a:t>色盲安全配色</a:t>
            </a:r>
          </a:p>
          <a:p>
            <a:pPr>
              <a:defRPr sz="900">
                <a:solidFill>
                  <a:srgbClr val="D0D0E0"/>
                </a:solidFill>
                <a:latin typeface="Arial"/>
              </a:defRPr>
            </a:pPr>
            <a:r>
              <a:t>替换为 d3.schemeTableau10，7 品牌色对比度更友好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777240"/>
            <a:ext cx="36576" cy="47548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291840" y="1325880"/>
            <a:ext cx="5303520" cy="475488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>
              <a:defRPr sz="1100" b="1">
                <a:solidFill>
                  <a:srgbClr val="00D4FF"/>
                </a:solidFill>
                <a:latin typeface="Arial"/>
              </a:defRPr>
            </a:pPr>
            <a:r>
              <a:t>渐变方向编码</a:t>
            </a:r>
          </a:p>
          <a:p>
            <a:pPr>
              <a:defRPr sz="900">
                <a:solidFill>
                  <a:srgbClr val="D0D0E0"/>
                </a:solidFill>
                <a:latin typeface="Arial"/>
              </a:defRPr>
            </a:pPr>
            <a:r>
              <a:t>连接弧增加线性渐变填充，一眼看出迁移方向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1325880"/>
            <a:ext cx="36576" cy="47548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291840" y="1874519"/>
            <a:ext cx="5303520" cy="475488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>
              <a:defRPr sz="1100" b="1">
                <a:solidFill>
                  <a:srgbClr val="00D4FF"/>
                </a:solidFill>
                <a:latin typeface="Arial"/>
              </a:defRPr>
            </a:pPr>
            <a:r>
              <a:t>悬停弹出效果</a:t>
            </a:r>
          </a:p>
          <a:p>
            <a:pPr>
              <a:defRPr sz="900">
                <a:solidFill>
                  <a:srgbClr val="D0D0E0"/>
                </a:solidFill>
                <a:latin typeface="Arial"/>
              </a:defRPr>
            </a:pPr>
            <a:r>
              <a:t>淡化非相关品牌，强化目标品牌，颜色加深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40" y="1874519"/>
            <a:ext cx="36576" cy="47548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291840" y="2423160"/>
            <a:ext cx="5303520" cy="475488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>
              <a:defRPr sz="1100" b="1">
                <a:solidFill>
                  <a:srgbClr val="00D4FF"/>
                </a:solidFill>
                <a:latin typeface="Arial"/>
              </a:defRPr>
            </a:pPr>
            <a:r>
              <a:t>忠实用户外圈凸起</a:t>
            </a:r>
          </a:p>
          <a:p>
            <a:pPr>
              <a:defRPr sz="900">
                <a:solidFill>
                  <a:srgbClr val="D0D0E0"/>
                </a:solidFill>
                <a:latin typeface="Arial"/>
              </a:defRPr>
            </a:pPr>
            <a:r>
              <a:t>没换品牌往外凸起，换了品牌内部连线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91840" y="2423160"/>
            <a:ext cx="36576" cy="47548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291840" y="2971800"/>
            <a:ext cx="5303520" cy="475488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>
              <a:defRPr sz="1100" b="1">
                <a:solidFill>
                  <a:srgbClr val="00D4FF"/>
                </a:solidFill>
                <a:latin typeface="Arial"/>
              </a:defRPr>
            </a:pPr>
            <a:r>
              <a:t>流失用户可视化</a:t>
            </a:r>
          </a:p>
          <a:p>
            <a:pPr>
              <a:defRPr sz="900">
                <a:solidFill>
                  <a:srgbClr val="D0D0E0"/>
                </a:solidFill>
                <a:latin typeface="Arial"/>
              </a:defRPr>
            </a:pPr>
            <a:r>
              <a:t>在他牌弧对应内弦段覆盖本品牌色加深描边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91840" y="2971800"/>
            <a:ext cx="36576" cy="47548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56032"/>
            <a:ext cx="45720" cy="32004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Arial"/>
              </a:defRPr>
            </a:pPr>
            <a:r>
              <a:t>Chart 1 · 品牌详情页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274320"/>
            <a:ext cx="1097280" cy="25603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1A1A2E"/>
                </a:solidFill>
                <a:latin typeface="Arial"/>
              </a:defRPr>
            </a:pPr>
            <a:r>
              <a:t>深度交互</a:t>
            </a:r>
          </a:p>
        </p:txBody>
      </p:sp>
      <p:pic>
        <p:nvPicPr>
          <p:cNvPr id="5" name="Picture 4" descr="brand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201" y="777240"/>
            <a:ext cx="3139597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02336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5A6A8A"/>
                </a:solidFill>
                <a:latin typeface="Arial"/>
              </a:defRPr>
            </a:pPr>
            <a:r>
              <a:t>点击品牌进入详情 — 整个 SVG 替换为详情视图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7772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D4FF"/>
                </a:solidFill>
                <a:latin typeface="Arial"/>
              </a:defRPr>
            </a:pPr>
            <a:r>
              <a:t>详情页功能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1188720"/>
            <a:ext cx="4023360" cy="475488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>
              <a:defRPr sz="1100" b="1">
                <a:solidFill>
                  <a:srgbClr val="00D4FF"/>
                </a:solidFill>
                <a:latin typeface="Arial"/>
              </a:defRPr>
            </a:pPr>
            <a:r>
              <a:t>点击进入详情</a:t>
            </a:r>
          </a:p>
          <a:p>
            <a:pPr>
              <a:defRPr sz="900">
                <a:solidFill>
                  <a:srgbClr val="D0D0E0"/>
                </a:solidFill>
                <a:latin typeface="Arial"/>
              </a:defRPr>
            </a:pPr>
            <a:r>
              <a:t>整个 SVG 替换为该品牌的详情视图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1188720"/>
            <a:ext cx="36576" cy="47548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0" y="1737360"/>
            <a:ext cx="4023360" cy="475488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>
              <a:defRPr sz="1100" b="1">
                <a:solidFill>
                  <a:srgbClr val="00D4FF"/>
                </a:solidFill>
                <a:latin typeface="Arial"/>
              </a:defRPr>
            </a:pPr>
            <a:r>
              <a:t>多维指标展示</a:t>
            </a:r>
          </a:p>
          <a:p>
            <a:pPr>
              <a:defRPr sz="900">
                <a:solidFill>
                  <a:srgbClr val="D0D0E0"/>
                </a:solidFill>
                <a:latin typeface="Arial"/>
              </a:defRPr>
            </a:pPr>
            <a:r>
              <a:t>总人数、忠诚用户、他牌切换而来、流走用户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37360"/>
            <a:ext cx="36576" cy="47548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0" y="2286000"/>
            <a:ext cx="4023360" cy="475488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>
              <a:defRPr sz="1100" b="1">
                <a:solidFill>
                  <a:srgbClr val="00D4FF"/>
                </a:solidFill>
                <a:latin typeface="Arial"/>
              </a:defRPr>
            </a:pPr>
            <a:r>
              <a:t>颜色高亮区分</a:t>
            </a:r>
          </a:p>
          <a:p>
            <a:pPr>
              <a:defRPr sz="900">
                <a:solidFill>
                  <a:srgbClr val="D0D0E0"/>
                </a:solidFill>
                <a:latin typeface="Arial"/>
              </a:defRPr>
            </a:pPr>
            <a:r>
              <a:t>不同指标使用不同颜色编码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2286000"/>
            <a:ext cx="36576" cy="47548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3200400"/>
            <a:ext cx="1188720" cy="82296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defRPr sz="2200" b="1">
                <a:solidFill>
                  <a:srgbClr val="00D4FF"/>
                </a:solidFill>
              </a:defRPr>
            </a:pPr>
            <a:r>
              <a:t>5</a:t>
            </a:r>
          </a:p>
          <a:p>
            <a:pPr algn="ctr">
              <a:defRPr sz="900">
                <a:solidFill>
                  <a:srgbClr val="A0A0B8"/>
                </a:solidFill>
              </a:defRPr>
            </a:pPr>
            <a:r>
              <a:t>交互层次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0" y="3200400"/>
            <a:ext cx="1188720" cy="82296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defRPr sz="2200" b="1">
                <a:solidFill>
                  <a:srgbClr val="00D4FF"/>
                </a:solidFill>
              </a:defRPr>
            </a:pPr>
            <a:r>
              <a:t>3</a:t>
            </a:r>
          </a:p>
          <a:p>
            <a:pPr algn="ctr">
              <a:defRPr sz="900">
                <a:solidFill>
                  <a:srgbClr val="A0A0B8"/>
                </a:solidFill>
              </a:defRPr>
            </a:pPr>
            <a:r>
              <a:t>视觉编码维度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0" y="3200400"/>
            <a:ext cx="1188720" cy="82296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defRPr sz="2200" b="1">
                <a:solidFill>
                  <a:srgbClr val="00D4FF"/>
                </a:solidFill>
              </a:defRPr>
            </a:pPr>
            <a:r>
              <a:t>7</a:t>
            </a:r>
          </a:p>
          <a:p>
            <a:pPr algn="ctr">
              <a:defRPr sz="900">
                <a:solidFill>
                  <a:srgbClr val="A0A0B8"/>
                </a:solidFill>
              </a:defRPr>
            </a:pPr>
            <a:r>
              <a:t>品牌色盲安全色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56032"/>
            <a:ext cx="45720" cy="32004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Arial"/>
              </a:defRPr>
            </a:pPr>
            <a:r>
              <a:t>Chart 2 · 旭日图 Zoomable Sunburst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274320"/>
            <a:ext cx="1097280" cy="25603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1A1A2E"/>
                </a:solidFill>
                <a:latin typeface="Arial"/>
              </a:defRPr>
            </a:pPr>
            <a:r>
              <a:t>原图分析</a:t>
            </a:r>
          </a:p>
        </p:txBody>
      </p:sp>
      <p:pic>
        <p:nvPicPr>
          <p:cNvPr id="5" name="Picture 4" descr="chart2-ori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381" y="777240"/>
            <a:ext cx="1242197" cy="1188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2011680"/>
            <a:ext cx="2194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5A6A8A"/>
                </a:solidFill>
                <a:latin typeface="Arial"/>
              </a:defRPr>
            </a:pPr>
            <a:r>
              <a:t>原始旭日图 — 彩虹色阶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7683" y="777240"/>
            <a:ext cx="1471352" cy="1188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926080" y="2011680"/>
            <a:ext cx="2194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5A6A8A"/>
                </a:solidFill>
                <a:latin typeface="Arial"/>
              </a:defRPr>
            </a:pPr>
            <a:r>
              <a:t>红色盲 — 丧失颜色分组信息</a:t>
            </a:r>
          </a:p>
        </p:txBody>
      </p:sp>
      <p:pic>
        <p:nvPicPr>
          <p:cNvPr id="9" name="Picture 8" descr="image-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4442" y="2194560"/>
            <a:ext cx="1260075" cy="1188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3429000"/>
            <a:ext cx="2194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5A6A8A"/>
                </a:solidFill>
                <a:latin typeface="Arial"/>
              </a:defRPr>
            </a:pPr>
            <a:r>
              <a:t>深钻后兄弟节点不可区分</a:t>
            </a:r>
          </a:p>
        </p:txBody>
      </p:sp>
      <p:pic>
        <p:nvPicPr>
          <p:cNvPr id="11" name="Picture 10" descr="image-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63574" y="2194560"/>
            <a:ext cx="1519570" cy="11887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926080" y="3429000"/>
            <a:ext cx="2194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5A6A8A"/>
                </a:solidFill>
                <a:latin typeface="Arial"/>
              </a:defRPr>
            </a:pPr>
            <a:r>
              <a:t>原始 hover — 仅原生 title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94960" y="777240"/>
            <a:ext cx="3291840" cy="475488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1  彩虹色阶色盲灾难</a:t>
            </a:r>
          </a:p>
          <a:p>
            <a:pPr>
              <a:defRPr sz="900">
                <a:solidFill>
                  <a:srgbClr val="D0D0E0"/>
                </a:solidFill>
                <a:latin typeface="Arial"/>
              </a:defRPr>
            </a:pPr>
            <a:r>
              <a:t>鲜艳颜色对色盲用户几乎不传递信息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94960" y="777240"/>
            <a:ext cx="36576" cy="475488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94960" y="1325880"/>
            <a:ext cx="3291840" cy="475488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2  深钻后颜色退化</a:t>
            </a:r>
          </a:p>
          <a:p>
            <a:pPr>
              <a:defRPr sz="900">
                <a:solidFill>
                  <a:srgbClr val="D0D0E0"/>
                </a:solidFill>
                <a:latin typeface="Arial"/>
              </a:defRPr>
            </a:pPr>
            <a:r>
              <a:t>同层兄弟节点保留原始微小变体，放大后无法区分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94960" y="1325880"/>
            <a:ext cx="36576" cy="475488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94960" y="1874519"/>
            <a:ext cx="3291840" cy="475488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3  面积感知陷阱</a:t>
            </a:r>
          </a:p>
          <a:p>
            <a:pPr>
              <a:defRPr sz="900">
                <a:solidFill>
                  <a:srgbClr val="D0D0E0"/>
                </a:solidFill>
                <a:latin typeface="Arial"/>
              </a:defRPr>
            </a:pPr>
            <a:r>
              <a:t>Stevens 幂律（指数 0.7）导致两倍大扇区看起来只大 70%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94960" y="1874519"/>
            <a:ext cx="36576" cy="475488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394960" y="2423160"/>
            <a:ext cx="3291840" cy="475488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4  无全局定位</a:t>
            </a:r>
          </a:p>
          <a:p>
            <a:pPr>
              <a:defRPr sz="900">
                <a:solidFill>
                  <a:srgbClr val="D0D0E0"/>
                </a:solidFill>
                <a:latin typeface="Arial"/>
              </a:defRPr>
            </a:pPr>
            <a:r>
              <a:t>钻取到深层后非聚焦节点消失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94960" y="2423160"/>
            <a:ext cx="36576" cy="475488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94960" y="2971800"/>
            <a:ext cx="3291840" cy="475488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5  信息空间浪费</a:t>
            </a:r>
          </a:p>
          <a:p>
            <a:pPr>
              <a:defRPr sz="900">
                <a:solidFill>
                  <a:srgbClr val="D0D0E0"/>
                </a:solidFill>
                <a:latin typeface="Arial"/>
              </a:defRPr>
            </a:pPr>
            <a:r>
              <a:t>中心圆仅作返回热区，hover 只有原生 title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94960" y="2971800"/>
            <a:ext cx="36576" cy="475488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470916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>
                <a:solidFill>
                  <a:srgbClr val="5A6A8A"/>
                </a:solidFill>
                <a:latin typeface="Arial"/>
              </a:rPr>
              <a:t>原图来源：</a:t>
            </a:r>
            <a:r>
              <a:rPr sz="800">
                <a:solidFill>
                  <a:srgbClr val="00D4FF"/>
                </a:solidFill>
                <a:latin typeface="Arial"/>
                <a:hlinkClick r:id="rId6"/>
              </a:rPr>
              <a:t>https://observablehq.com/@d3/zoomable-sunburst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56032"/>
            <a:ext cx="45720" cy="32004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Arial"/>
              </a:defRPr>
            </a:pPr>
            <a:r>
              <a:t>Chart 2 · 旭日图改进（上）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274320"/>
            <a:ext cx="1097280" cy="25603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1A1A2E"/>
                </a:solidFill>
                <a:latin typeface="Arial"/>
              </a:defRPr>
            </a:pPr>
            <a:r>
              <a:t>重新着色</a:t>
            </a:r>
          </a:p>
        </p:txBody>
      </p:sp>
      <p:pic>
        <p:nvPicPr>
          <p:cNvPr id="5" name="Picture 4" descr="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797" y="777240"/>
            <a:ext cx="1450805" cy="1371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2194560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5A6A8A"/>
                </a:solidFill>
                <a:latin typeface="Arial"/>
              </a:defRPr>
            </a:pPr>
            <a:r>
              <a:t>色盲用户 — 色相区分度显著提升</a:t>
            </a:r>
          </a:p>
        </p:txBody>
      </p:sp>
      <p:pic>
        <p:nvPicPr>
          <p:cNvPr id="7" name="Picture 6" descr="image-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839" y="2468880"/>
            <a:ext cx="1456720" cy="1371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3886200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5A6A8A"/>
                </a:solidFill>
                <a:latin typeface="Arial"/>
              </a:defRPr>
            </a:pPr>
            <a:r>
              <a:t>深钻后同级兄弟始终有足够色相区分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17520" y="777240"/>
            <a:ext cx="5669280" cy="475488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>
              <a:defRPr sz="1100" b="1">
                <a:solidFill>
                  <a:srgbClr val="00D4FF"/>
                </a:solidFill>
                <a:latin typeface="Arial"/>
              </a:defRPr>
            </a:pPr>
            <a:r>
              <a:t>Tableau10 调色板</a:t>
            </a:r>
          </a:p>
          <a:p>
            <a:pPr>
              <a:defRPr sz="900">
                <a:solidFill>
                  <a:srgbClr val="D0D0E0"/>
                </a:solidFill>
                <a:latin typeface="Arial"/>
              </a:defRPr>
            </a:pPr>
            <a:r>
              <a:t>色相间距更大，对色盲更友好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17520" y="777240"/>
            <a:ext cx="36576" cy="47548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017520" y="1325880"/>
            <a:ext cx="5669280" cy="475488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>
              <a:defRPr sz="1100" b="1">
                <a:solidFill>
                  <a:srgbClr val="00D4FF"/>
                </a:solidFill>
                <a:latin typeface="Arial"/>
              </a:defRPr>
            </a:pPr>
            <a:r>
              <a:t>动态重新着色</a:t>
            </a:r>
          </a:p>
          <a:p>
            <a:pPr>
              <a:defRPr sz="900">
                <a:solidFill>
                  <a:srgbClr val="D0D0E0"/>
                </a:solidFill>
                <a:latin typeface="Arial"/>
              </a:defRPr>
            </a:pPr>
            <a:r>
              <a:t>每次钻取以当前聚焦节点的直接子节点为单元重新分配色相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1325880"/>
            <a:ext cx="36576" cy="47548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017520" y="1874519"/>
            <a:ext cx="5669280" cy="475488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>
              <a:defRPr sz="1100" b="1">
                <a:solidFill>
                  <a:srgbClr val="00D4FF"/>
                </a:solidFill>
                <a:latin typeface="Arial"/>
              </a:defRPr>
            </a:pPr>
            <a:r>
              <a:t>深度无关区分</a:t>
            </a:r>
          </a:p>
          <a:p>
            <a:pPr>
              <a:defRPr sz="900">
                <a:solidFill>
                  <a:srgbClr val="D0D0E0"/>
                </a:solidFill>
                <a:latin typeface="Arial"/>
              </a:defRPr>
            </a:pPr>
            <a:r>
              <a:t>无论钻到多深，同级兄弟之间始终有足够色相区分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1874519"/>
            <a:ext cx="36576" cy="47548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017520" y="2423160"/>
            <a:ext cx="5669280" cy="475488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>
              <a:defRPr sz="1100" b="1">
                <a:solidFill>
                  <a:srgbClr val="00D4FF"/>
                </a:solidFill>
                <a:latin typeface="Arial"/>
              </a:defRPr>
            </a:pPr>
            <a:r>
              <a:t>弧段文字白色描边</a:t>
            </a:r>
          </a:p>
          <a:p>
            <a:pPr>
              <a:defRPr sz="900">
                <a:solidFill>
                  <a:srgbClr val="D0D0E0"/>
                </a:solidFill>
                <a:latin typeface="Arial"/>
              </a:defRPr>
            </a:pPr>
            <a:r>
              <a:t>文字在任何颜色的弧段背景上都保持清晰可读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17520" y="2423160"/>
            <a:ext cx="36576" cy="47548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017520" y="2971800"/>
            <a:ext cx="5669280" cy="475488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>
              <a:defRPr sz="1100" b="1">
                <a:solidFill>
                  <a:srgbClr val="00D4FF"/>
                </a:solidFill>
                <a:latin typeface="Arial"/>
              </a:defRPr>
            </a:pPr>
            <a:r>
              <a:t>自定义 Tooltip</a:t>
            </a:r>
          </a:p>
          <a:p>
            <a:pPr>
              <a:defRPr sz="900">
                <a:solidFill>
                  <a:srgbClr val="D0D0E0"/>
                </a:solidFill>
                <a:latin typeface="Arial"/>
              </a:defRPr>
            </a:pPr>
            <a:r>
              <a:t>节点路径、数值、父级占比、整体占比、子项数量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17520" y="2971800"/>
            <a:ext cx="36576" cy="47548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56032"/>
            <a:ext cx="45720" cy="32004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Arial"/>
              </a:defRPr>
            </a:pPr>
            <a:r>
              <a:t>Chart 2 · 旭日图改进（下）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274320"/>
            <a:ext cx="1097280" cy="25603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1A1A2E"/>
                </a:solidFill>
                <a:latin typeface="Arial"/>
              </a:defRPr>
            </a:pPr>
            <a:r>
              <a:t>联动 · 导航 · 中心区</a:t>
            </a:r>
          </a:p>
        </p:txBody>
      </p:sp>
      <p:pic>
        <p:nvPicPr>
          <p:cNvPr id="5" name="Picture 4" descr="image-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916" y="777240"/>
            <a:ext cx="1331126" cy="1097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920240"/>
            <a:ext cx="2194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5A6A8A"/>
                </a:solidFill>
                <a:latin typeface="Arial"/>
              </a:defRPr>
            </a:pPr>
            <a:r>
              <a:t>左侧表格 + 条形图 + 精确数值</a:t>
            </a:r>
          </a:p>
        </p:txBody>
      </p:sp>
      <p:pic>
        <p:nvPicPr>
          <p:cNvPr id="7" name="Picture 6" descr="image-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1212596"/>
            <a:ext cx="2194560" cy="22656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926080" y="1920240"/>
            <a:ext cx="2194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5A6A8A"/>
                </a:solidFill>
                <a:latin typeface="Arial"/>
              </a:defRPr>
            </a:pPr>
            <a:r>
              <a:t>根→A→B→C 路径可点击跳转</a:t>
            </a:r>
          </a:p>
        </p:txBody>
      </p:sp>
      <p:pic>
        <p:nvPicPr>
          <p:cNvPr id="9" name="Picture 8" descr="image-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9771" y="2148840"/>
            <a:ext cx="1129417" cy="1097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3291840"/>
            <a:ext cx="2194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5A6A8A"/>
                </a:solidFill>
                <a:latin typeface="Arial"/>
              </a:defRPr>
            </a:pPr>
            <a:r>
              <a:t>中心显示名称/总数值/百分比</a:t>
            </a:r>
          </a:p>
        </p:txBody>
      </p:sp>
      <p:pic>
        <p:nvPicPr>
          <p:cNvPr id="11" name="Picture 10" descr="image-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64339" y="2148840"/>
            <a:ext cx="1718041" cy="1097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926080" y="3291840"/>
            <a:ext cx="2194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5A6A8A"/>
                </a:solidFill>
                <a:latin typeface="Arial"/>
              </a:defRPr>
            </a:pPr>
            <a:r>
              <a:t>自定义 Tooltip 效果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94960" y="777240"/>
            <a:ext cx="3291840" cy="475488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>
              <a:defRPr sz="1100" b="1">
                <a:solidFill>
                  <a:srgbClr val="00D4FF"/>
                </a:solidFill>
                <a:latin typeface="Arial"/>
              </a:defRPr>
            </a:pPr>
            <a:r>
              <a:t>文件管理器风格表格</a:t>
            </a:r>
          </a:p>
          <a:p>
            <a:pPr>
              <a:defRPr sz="900">
                <a:solidFill>
                  <a:srgbClr val="D0D0E0"/>
                </a:solidFill>
                <a:latin typeface="Arial"/>
              </a:defRPr>
            </a:pPr>
            <a:r>
              <a:t>每个子项一行带彩色条形图，旁边标注精确数值和百分比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94960" y="777240"/>
            <a:ext cx="36576" cy="47548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94960" y="1280160"/>
            <a:ext cx="3291840" cy="475488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>
              <a:defRPr sz="1100" b="1">
                <a:solidFill>
                  <a:srgbClr val="00D4FF"/>
                </a:solidFill>
                <a:latin typeface="Arial"/>
              </a:defRPr>
            </a:pPr>
            <a:r>
              <a:t>表格与图表联动</a:t>
            </a:r>
          </a:p>
          <a:p>
            <a:pPr>
              <a:defRPr sz="900">
                <a:solidFill>
                  <a:srgbClr val="D0D0E0"/>
                </a:solidFill>
                <a:latin typeface="Arial"/>
              </a:defRPr>
            </a:pPr>
            <a:r>
              <a:t>表格行与右侧图表联动，点击也可触发钻取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94960" y="1280160"/>
            <a:ext cx="36576" cy="47548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94960" y="1783080"/>
            <a:ext cx="3291840" cy="475488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>
              <a:defRPr sz="1100" b="1">
                <a:solidFill>
                  <a:srgbClr val="00D4FF"/>
                </a:solidFill>
                <a:latin typeface="Arial"/>
              </a:defRPr>
            </a:pPr>
            <a:r>
              <a:t>面包屑导航</a:t>
            </a:r>
          </a:p>
          <a:p>
            <a:pPr>
              <a:defRPr sz="900">
                <a:solidFill>
                  <a:srgbClr val="D0D0E0"/>
                </a:solidFill>
                <a:latin typeface="Arial"/>
              </a:defRPr>
            </a:pPr>
            <a:r>
              <a:t>顶部显示当前完整路径，每个节点可点击跳转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94960" y="1783080"/>
            <a:ext cx="36576" cy="47548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394960" y="2286000"/>
            <a:ext cx="3291840" cy="475488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>
              <a:defRPr sz="1100" b="1">
                <a:solidFill>
                  <a:srgbClr val="00D4FF"/>
                </a:solidFill>
                <a:latin typeface="Arial"/>
              </a:defRPr>
            </a:pPr>
            <a:r>
              <a:t>中心信息区</a:t>
            </a:r>
          </a:p>
          <a:p>
            <a:pPr>
              <a:defRPr sz="900">
                <a:solidFill>
                  <a:srgbClr val="D0D0E0"/>
                </a:solidFill>
                <a:latin typeface="Arial"/>
              </a:defRPr>
            </a:pPr>
            <a:r>
              <a:t>显示当前节点名称、总数值、占整体百分比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94960" y="2286000"/>
            <a:ext cx="36576" cy="47548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94960" y="2788920"/>
            <a:ext cx="3291840" cy="475488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>
              <a:defRPr sz="1100" b="1">
                <a:solidFill>
                  <a:srgbClr val="00D4FF"/>
                </a:solidFill>
                <a:latin typeface="Arial"/>
              </a:defRPr>
            </a:pPr>
            <a:r>
              <a:t>富文本 Tooltip</a:t>
            </a:r>
          </a:p>
          <a:p>
            <a:pPr>
              <a:defRPr sz="900">
                <a:solidFill>
                  <a:srgbClr val="D0D0E0"/>
                </a:solidFill>
                <a:latin typeface="Arial"/>
              </a:defRPr>
            </a:pPr>
            <a:r>
              <a:t>节点路径、数值、父级占比、整体占比、子项数量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94960" y="2788920"/>
            <a:ext cx="36576" cy="47548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solidFill>
            <a:srgbClr val="2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206240"/>
            <a:ext cx="36576" cy="36576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224528"/>
            <a:ext cx="77724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D0A0A0"/>
                </a:solidFill>
                <a:latin typeface="Arial"/>
              </a:defRPr>
            </a:pPr>
            <a:r>
              <a:t>剩余局限：仍完全依赖颜色编码类别，理想方案是叠加纹理或图标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370832"/>
            <a:ext cx="77724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D0A0A0"/>
                </a:solidFill>
                <a:latin typeface="Arial"/>
              </a:defRPr>
            </a:pPr>
            <a:r>
              <a:t>但小面积弧段无法呈现纹理细节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56032"/>
            <a:ext cx="45720" cy="32004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Arial"/>
              </a:defRPr>
            </a:pPr>
            <a:r>
              <a:t>Chart 3 · 地震地图 QuakeSpotter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274320"/>
            <a:ext cx="1097280" cy="25603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1A1A2E"/>
                </a:solidFill>
                <a:latin typeface="Arial"/>
              </a:defRPr>
            </a:pPr>
            <a:r>
              <a:t>原图分析 + 改进</a:t>
            </a:r>
          </a:p>
        </p:txBody>
      </p:sp>
      <p:pic>
        <p:nvPicPr>
          <p:cNvPr id="5" name="Picture 4" descr="chart3-ori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452" y="777240"/>
            <a:ext cx="2591095" cy="2011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283464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5A6A8A"/>
                </a:solidFill>
                <a:latin typeface="Arial"/>
              </a:defRPr>
            </a:pPr>
            <a:r>
              <a:t>原始版本 — 2.0 级和 2.9 级看起来完全一样</a:t>
            </a:r>
          </a:p>
        </p:txBody>
      </p:sp>
      <p:pic>
        <p:nvPicPr>
          <p:cNvPr id="7" name="Picture 6" descr="step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573201"/>
            <a:ext cx="4114800" cy="4197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0" y="2834640"/>
            <a:ext cx="4114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5A6A8A"/>
                </a:solidFill>
                <a:latin typeface="Arial"/>
              </a:defRPr>
            </a:pPr>
            <a:r>
              <a:t>按震级连续着色 + 深度信息叠加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200400"/>
            <a:ext cx="4023360" cy="475488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1  统一红色无区分</a:t>
            </a:r>
          </a:p>
          <a:p>
            <a:pPr>
              <a:defRPr sz="900">
                <a:solidFill>
                  <a:srgbClr val="D0D0E0"/>
                </a:solidFill>
                <a:latin typeface="Arial"/>
              </a:defRPr>
            </a:pPr>
            <a:r>
              <a:t>无法区分震级大小，环太平洋地震带密密麻麻一片红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200400"/>
            <a:ext cx="36576" cy="475488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800600" y="3200400"/>
            <a:ext cx="4023360" cy="475488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2  静态无交互</a:t>
            </a:r>
          </a:p>
          <a:p>
            <a:pPr>
              <a:defRPr sz="900">
                <a:solidFill>
                  <a:srgbClr val="D0D0E0"/>
                </a:solidFill>
                <a:latin typeface="Arial"/>
              </a:defRPr>
            </a:pPr>
            <a:r>
              <a:t>不能旋转、缩放、点击查看详情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00600" y="3200400"/>
            <a:ext cx="36576" cy="475488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" y="3794760"/>
            <a:ext cx="4023360" cy="475488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3  信息不足</a:t>
            </a:r>
          </a:p>
          <a:p>
            <a:pPr>
              <a:defRPr sz="900">
                <a:solidFill>
                  <a:srgbClr val="D0D0E0"/>
                </a:solidFill>
                <a:latin typeface="Arial"/>
              </a:defRPr>
            </a:pPr>
            <a:r>
              <a:t>"今天地震多不多？"无法快速回答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794760"/>
            <a:ext cx="36576" cy="475488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00600" y="3794760"/>
            <a:ext cx="4023360" cy="475488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4  首次加载白屏</a:t>
            </a:r>
          </a:p>
          <a:p>
            <a:pPr>
              <a:defRPr sz="900">
                <a:solidFill>
                  <a:srgbClr val="D0D0E0"/>
                </a:solidFill>
                <a:latin typeface="Arial"/>
              </a:defRPr>
            </a:pPr>
            <a:r>
              <a:t>数据量大时无加载指示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00600" y="3794760"/>
            <a:ext cx="36576" cy="475488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470916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>
                <a:solidFill>
                  <a:srgbClr val="5A6A8A"/>
                </a:solidFill>
                <a:latin typeface="Arial"/>
              </a:rPr>
              <a:t>原图来源：</a:t>
            </a:r>
            <a:r>
              <a:rPr sz="800">
                <a:solidFill>
                  <a:srgbClr val="00D4FF"/>
                </a:solidFill>
                <a:latin typeface="Arial"/>
                <a:hlinkClick r:id="rId4"/>
              </a:rPr>
              <a:t>https://observablehq.com/@d3/world-earthquakes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56032"/>
            <a:ext cx="45720" cy="32004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Arial"/>
              </a:defRPr>
            </a:pPr>
            <a:r>
              <a:t>Chart 3 · 地震地图改进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274320"/>
            <a:ext cx="1097280" cy="25603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1A1A2E"/>
                </a:solidFill>
                <a:latin typeface="Arial"/>
              </a:defRPr>
            </a:pPr>
            <a:r>
              <a:t>交互 · 配色 · 主题</a:t>
            </a:r>
          </a:p>
        </p:txBody>
      </p:sp>
      <p:pic>
        <p:nvPicPr>
          <p:cNvPr id="5" name="Picture 4" descr="step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59977"/>
            <a:ext cx="3657600" cy="8633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265176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5A6A8A"/>
                </a:solidFill>
                <a:latin typeface="Arial"/>
              </a:defRPr>
            </a:pPr>
            <a:r>
              <a:t>顶部统计栏 + 悬停提示卡片</a:t>
            </a:r>
          </a:p>
        </p:txBody>
      </p:sp>
      <p:pic>
        <p:nvPicPr>
          <p:cNvPr id="7" name="Picture 6" descr="step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833" y="2926080"/>
            <a:ext cx="2614333" cy="1645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461772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5A6A8A"/>
                </a:solidFill>
                <a:latin typeface="Arial"/>
              </a:defRPr>
            </a:pPr>
            <a:r>
              <a:t>v0.4 — 点击信息卡片 + 安全色板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777240"/>
            <a:ext cx="4297680" cy="475488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>
              <a:defRPr sz="1100" b="1">
                <a:solidFill>
                  <a:srgbClr val="00D4FF"/>
                </a:solidFill>
                <a:latin typeface="Arial"/>
              </a:defRPr>
            </a:pPr>
            <a:r>
              <a:t>震级连续着色</a:t>
            </a:r>
          </a:p>
          <a:p>
            <a:pPr>
              <a:defRPr sz="900">
                <a:solidFill>
                  <a:srgbClr val="D0D0E0"/>
                </a:solidFill>
                <a:latin typeface="Arial"/>
              </a:defRPr>
            </a:pPr>
            <a:r>
              <a:t>小震温和色，大震警示色，颜色连续变化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777240"/>
            <a:ext cx="36576" cy="47548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9120" y="1280160"/>
            <a:ext cx="4297680" cy="475488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>
              <a:defRPr sz="1100" b="1">
                <a:solidFill>
                  <a:srgbClr val="00D4FF"/>
                </a:solidFill>
                <a:latin typeface="Arial"/>
              </a:defRPr>
            </a:pPr>
            <a:r>
              <a:t>深度信息叠加</a:t>
            </a:r>
          </a:p>
          <a:p>
            <a:pPr>
              <a:defRPr sz="900">
                <a:solidFill>
                  <a:srgbClr val="D0D0E0"/>
                </a:solidFill>
                <a:latin typeface="Arial"/>
              </a:defRPr>
            </a:pPr>
            <a:r>
              <a:t>浅层鲜艳，深层暗淡，颜色同时编码震级和深度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1280160"/>
            <a:ext cx="36576" cy="47548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9120" y="1783080"/>
            <a:ext cx="4297680" cy="475488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>
              <a:defRPr sz="1100" b="1">
                <a:solidFill>
                  <a:srgbClr val="00D4FF"/>
                </a:solidFill>
                <a:latin typeface="Arial"/>
              </a:defRPr>
            </a:pPr>
            <a:r>
              <a:t>悬停 + 点击交互</a:t>
            </a:r>
          </a:p>
          <a:p>
            <a:pPr>
              <a:defRPr sz="900">
                <a:solidFill>
                  <a:srgbClr val="D0D0E0"/>
                </a:solidFill>
                <a:latin typeface="Arial"/>
              </a:defRPr>
            </a:pPr>
            <a:r>
              <a:t>悬停显示提示卡片，点击聚焦旋转缩放到该位置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783080"/>
            <a:ext cx="36576" cy="47548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89120" y="2286000"/>
            <a:ext cx="4297680" cy="475488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>
              <a:defRPr sz="1100" b="1">
                <a:solidFill>
                  <a:srgbClr val="00D4FF"/>
                </a:solidFill>
                <a:latin typeface="Arial"/>
              </a:defRPr>
            </a:pPr>
            <a:r>
              <a:t>拖拽旋转 + 惯性</a:t>
            </a:r>
          </a:p>
          <a:p>
            <a:pPr>
              <a:defRPr sz="900">
                <a:solidFill>
                  <a:srgbClr val="D0D0E0"/>
                </a:solidFill>
                <a:latin typeface="Arial"/>
              </a:defRPr>
            </a:pPr>
            <a:r>
              <a:t>鼠标拖拽旋转地球，释放后按惯性继续旋转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120" y="2286000"/>
            <a:ext cx="36576" cy="47548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89120" y="2788920"/>
            <a:ext cx="4297680" cy="475488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>
              <a:defRPr sz="1100" b="1">
                <a:solidFill>
                  <a:srgbClr val="00D4FF"/>
                </a:solidFill>
                <a:latin typeface="Arial"/>
              </a:defRPr>
            </a:pPr>
            <a:r>
              <a:t>色盲安全 + 主题切换</a:t>
            </a:r>
          </a:p>
          <a:p>
            <a:pPr>
              <a:defRPr sz="900">
                <a:solidFill>
                  <a:srgbClr val="D0D0E0"/>
                </a:solidFill>
                <a:latin typeface="Arial"/>
              </a:defRPr>
            </a:pPr>
            <a:r>
              <a:t>可选安全色板，支持亮色/暗色主题切换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120" y="2788920"/>
            <a:ext cx="36576" cy="47548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389120" y="3291840"/>
            <a:ext cx="4297680" cy="475488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>
              <a:defRPr sz="1100" b="1">
                <a:solidFill>
                  <a:srgbClr val="00D4FF"/>
                </a:solidFill>
                <a:latin typeface="Arial"/>
              </a:defRPr>
            </a:pPr>
            <a:r>
              <a:t>加载进度指示</a:t>
            </a:r>
          </a:p>
          <a:p>
            <a:pPr>
              <a:defRPr sz="900">
                <a:solidFill>
                  <a:srgbClr val="D0D0E0"/>
                </a:solidFill>
                <a:latin typeface="Arial"/>
              </a:defRPr>
            </a:pPr>
            <a:r>
              <a:t>解决首次加载白屏问题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120" y="3291840"/>
            <a:ext cx="36576" cy="47548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56032"/>
            <a:ext cx="45720" cy="32004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Arial"/>
              </a:defRPr>
            </a:pPr>
            <a:r>
              <a:t>Chart 4 · 气泡地图 Bubble 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274320"/>
            <a:ext cx="1097280" cy="25603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1A1A2E"/>
                </a:solidFill>
                <a:latin typeface="Arial"/>
              </a:defRPr>
            </a:pPr>
            <a:r>
              <a:t>原图分析</a:t>
            </a:r>
          </a:p>
        </p:txBody>
      </p:sp>
      <p:pic>
        <p:nvPicPr>
          <p:cNvPr id="5" name="Picture 4" descr="chart4-ori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05920"/>
            <a:ext cx="2011680" cy="13142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2194560"/>
            <a:ext cx="2011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5A6A8A"/>
                </a:solidFill>
                <a:latin typeface="Arial"/>
              </a:defRPr>
            </a:pPr>
            <a:r>
              <a:t>原始气泡地图全局概览</a:t>
            </a:r>
          </a:p>
        </p:txBody>
      </p:sp>
      <p:pic>
        <p:nvPicPr>
          <p:cNvPr id="7" name="Picture 6" descr="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0" y="814897"/>
            <a:ext cx="2011680" cy="129628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651760" y="2194560"/>
            <a:ext cx="2011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5A6A8A"/>
                </a:solidFill>
                <a:latin typeface="Arial"/>
              </a:defRPr>
            </a:pPr>
            <a:r>
              <a:t>原图 — 密集区重叠严重</a:t>
            </a:r>
          </a:p>
        </p:txBody>
      </p:sp>
      <p:pic>
        <p:nvPicPr>
          <p:cNvPr id="9" name="Picture 8" descr="image-1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691" y="2377440"/>
            <a:ext cx="1730696" cy="1371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3794760"/>
            <a:ext cx="2011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5A6A8A"/>
                </a:solidFill>
                <a:latin typeface="Arial"/>
              </a:defRPr>
            </a:pPr>
            <a:r>
              <a:t>原图 — 无高亮引导</a:t>
            </a:r>
          </a:p>
        </p:txBody>
      </p:sp>
      <p:pic>
        <p:nvPicPr>
          <p:cNvPr id="11" name="Picture 10" descr="image-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1760" y="2400101"/>
            <a:ext cx="2011680" cy="13262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651760" y="3794760"/>
            <a:ext cx="2011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5A6A8A"/>
                </a:solidFill>
                <a:latin typeface="Arial"/>
              </a:defRPr>
            </a:pPr>
            <a:r>
              <a:t>棕色对色盲几乎不可见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37760" y="777240"/>
            <a:ext cx="1828800" cy="475488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1  单色棕色无区分</a:t>
            </a:r>
          </a:p>
          <a:p>
            <a:pPr>
              <a:defRPr sz="900">
                <a:solidFill>
                  <a:srgbClr val="D0D0E0"/>
                </a:solidFill>
                <a:latin typeface="Arial"/>
              </a:defRPr>
            </a:pPr>
            <a:r>
              <a:t>所有气泡同色，无法区分人口量级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37760" y="777240"/>
            <a:ext cx="36576" cy="475488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949440" y="777240"/>
            <a:ext cx="1828800" cy="475488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2  重叠严重</a:t>
            </a:r>
          </a:p>
          <a:p>
            <a:pPr>
              <a:defRPr sz="900">
                <a:solidFill>
                  <a:srgbClr val="D0D0E0"/>
                </a:solidFill>
                <a:latin typeface="Arial"/>
              </a:defRPr>
            </a:pPr>
            <a:r>
              <a:t>人口密集区气泡重叠，无法细致探索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49440" y="777240"/>
            <a:ext cx="36576" cy="475488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937760" y="1371600"/>
            <a:ext cx="1828800" cy="475488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3  无缩放筛选</a:t>
            </a:r>
          </a:p>
          <a:p>
            <a:pPr>
              <a:defRPr sz="900">
                <a:solidFill>
                  <a:srgbClr val="D0D0E0"/>
                </a:solidFill>
                <a:latin typeface="Arial"/>
              </a:defRPr>
            </a:pPr>
            <a:r>
              <a:t>仅提供悬停提示，无法缩放、筛选、聚焦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37760" y="1371600"/>
            <a:ext cx="36576" cy="475488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949440" y="1371600"/>
            <a:ext cx="1828800" cy="475488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4  色盲不可见</a:t>
            </a:r>
          </a:p>
          <a:p>
            <a:pPr>
              <a:defRPr sz="900">
                <a:solidFill>
                  <a:srgbClr val="D0D0E0"/>
                </a:solidFill>
                <a:latin typeface="Arial"/>
              </a:defRPr>
            </a:pPr>
            <a:r>
              <a:t>棕色对某些色盲人群接近不可见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49440" y="1371600"/>
            <a:ext cx="36576" cy="475488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937760" y="1965960"/>
            <a:ext cx="1828800" cy="475488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5  性能问题</a:t>
            </a:r>
          </a:p>
          <a:p>
            <a:pPr>
              <a:defRPr sz="900">
                <a:solidFill>
                  <a:srgbClr val="D0D0E0"/>
                </a:solidFill>
                <a:latin typeface="Arial"/>
              </a:defRPr>
            </a:pPr>
            <a:r>
              <a:t>无视口剔除，缩放时重新绘制所有圆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37760" y="1965960"/>
            <a:ext cx="36576" cy="475488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949440" y="1965960"/>
            <a:ext cx="1828800" cy="475488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6  无前注意引导</a:t>
            </a:r>
          </a:p>
          <a:p>
            <a:pPr>
              <a:defRPr sz="900">
                <a:solidFill>
                  <a:srgbClr val="D0D0E0"/>
                </a:solidFill>
                <a:latin typeface="Arial"/>
              </a:defRPr>
            </a:pPr>
            <a:r>
              <a:t>无高亮、淡化，需逐个悬停获取信息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49440" y="1965960"/>
            <a:ext cx="36576" cy="475488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470916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>
                <a:solidFill>
                  <a:srgbClr val="5A6A8A"/>
                </a:solidFill>
                <a:latin typeface="Arial"/>
              </a:rPr>
              <a:t>原图来源：</a:t>
            </a:r>
            <a:r>
              <a:rPr sz="800">
                <a:solidFill>
                  <a:srgbClr val="00D4FF"/>
                </a:solidFill>
                <a:latin typeface="Arial"/>
                <a:hlinkClick r:id="rId6"/>
              </a:rPr>
              <a:t>https://observablehq.com/@d3/bubble-map/2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56032"/>
            <a:ext cx="45720" cy="32004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Arial"/>
              </a:defRPr>
            </a:pPr>
            <a:r>
              <a:t>Chart 4 · 气泡地图改进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274320"/>
            <a:ext cx="1097280" cy="25603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1A1A2E"/>
                </a:solidFill>
                <a:latin typeface="Arial"/>
              </a:defRPr>
            </a:pPr>
            <a:r>
              <a:t>缩放 · 筛选 · 性能</a:t>
            </a:r>
          </a:p>
        </p:txBody>
      </p:sp>
      <p:pic>
        <p:nvPicPr>
          <p:cNvPr id="5" name="Picture 4" descr="image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819647"/>
            <a:ext cx="1828800" cy="12867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219456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5A6A8A"/>
                </a:solidFill>
                <a:latin typeface="Arial"/>
              </a:defRPr>
            </a:pPr>
            <a:r>
              <a:t>缩放/平移 + 州聚焦</a:t>
            </a:r>
          </a:p>
        </p:txBody>
      </p:sp>
      <p:pic>
        <p:nvPicPr>
          <p:cNvPr id="7" name="Picture 6" descr="image-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1720" y="838487"/>
            <a:ext cx="1828800" cy="12491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331720" y="219456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5A6A8A"/>
                </a:solidFill>
                <a:latin typeface="Arial"/>
              </a:defRPr>
            </a:pPr>
            <a:r>
              <a:t>YlOrRd 对数色标</a:t>
            </a:r>
          </a:p>
        </p:txBody>
      </p:sp>
      <p:pic>
        <p:nvPicPr>
          <p:cNvPr id="9" name="Picture 8" descr="image-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3922" y="777240"/>
            <a:ext cx="1827754" cy="1371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43400" y="219456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5A6A8A"/>
                </a:solidFill>
                <a:latin typeface="Arial"/>
              </a:defRPr>
            </a:pPr>
            <a:r>
              <a:t>色盲友好效果</a:t>
            </a:r>
          </a:p>
        </p:txBody>
      </p:sp>
      <p:pic>
        <p:nvPicPr>
          <p:cNvPr id="11" name="Picture 10" descr="image-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2514796"/>
            <a:ext cx="1828800" cy="109688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20040" y="379476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5A6A8A"/>
                </a:solidFill>
                <a:latin typeface="Arial"/>
              </a:defRPr>
            </a:pPr>
            <a:r>
              <a:t>范围高亮 + 悬停红边</a:t>
            </a:r>
          </a:p>
        </p:txBody>
      </p:sp>
      <p:pic>
        <p:nvPicPr>
          <p:cNvPr id="13" name="Picture 12" descr="image-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31720" y="2958814"/>
            <a:ext cx="1828800" cy="20885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331720" y="379476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5A6A8A"/>
                </a:solidFill>
                <a:latin typeface="Arial"/>
              </a:defRPr>
            </a:pPr>
            <a:r>
              <a:t>视口剔除 + 离屏缓存</a:t>
            </a:r>
          </a:p>
        </p:txBody>
      </p:sp>
      <p:pic>
        <p:nvPicPr>
          <p:cNvPr id="15" name="Picture 14" descr="image-1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7921" y="2377440"/>
            <a:ext cx="1579756" cy="13716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343400" y="379476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5A6A8A"/>
                </a:solidFill>
                <a:latin typeface="Arial"/>
              </a:defRPr>
            </a:pPr>
            <a:r>
              <a:t>州下拉菜单筛选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777240"/>
            <a:ext cx="2468880" cy="475488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>
              <a:defRPr sz="1100" b="1">
                <a:solidFill>
                  <a:srgbClr val="00D4FF"/>
                </a:solidFill>
                <a:latin typeface="Arial"/>
              </a:defRPr>
            </a:pPr>
            <a:r>
              <a:t>D3 Zoom 缩放平移</a:t>
            </a:r>
          </a:p>
          <a:p>
            <a:pPr>
              <a:defRPr sz="900">
                <a:solidFill>
                  <a:srgbClr val="D0D0E0"/>
                </a:solidFill>
                <a:latin typeface="Arial"/>
              </a:defRPr>
            </a:pPr>
            <a:r>
              <a:t>支持平滑过渡与视口自适应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777240"/>
            <a:ext cx="36576" cy="47548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0" y="1280160"/>
            <a:ext cx="2468880" cy="475488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>
              <a:defRPr sz="1100" b="1">
                <a:solidFill>
                  <a:srgbClr val="00D4FF"/>
                </a:solidFill>
                <a:latin typeface="Arial"/>
              </a:defRPr>
            </a:pPr>
            <a:r>
              <a:t>对数颜色映射</a:t>
            </a:r>
          </a:p>
          <a:p>
            <a:pPr>
              <a:defRPr sz="900">
                <a:solidFill>
                  <a:srgbClr val="D0D0E0"/>
                </a:solidFill>
                <a:latin typeface="Arial"/>
              </a:defRPr>
            </a:pPr>
            <a:r>
              <a:t>YlOrRd 色标，亮度变化显著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1280160"/>
            <a:ext cx="36576" cy="47548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0" y="1783080"/>
            <a:ext cx="2468880" cy="475488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>
              <a:defRPr sz="1100" b="1">
                <a:solidFill>
                  <a:srgbClr val="00D4FF"/>
                </a:solidFill>
                <a:latin typeface="Arial"/>
              </a:defRPr>
            </a:pPr>
            <a:r>
              <a:t>刷选范围高亮</a:t>
            </a:r>
          </a:p>
          <a:p>
            <a:pPr>
              <a:defRPr sz="900">
                <a:solidFill>
                  <a:srgbClr val="D0D0E0"/>
                </a:solidFill>
                <a:latin typeface="Arial"/>
              </a:defRPr>
            </a:pPr>
            <a:r>
              <a:t>符合范围保持正常透明度，不符合者淡化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1783080"/>
            <a:ext cx="36576" cy="47548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0" y="2286000"/>
            <a:ext cx="2468880" cy="475488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>
              <a:defRPr sz="1100" b="1">
                <a:solidFill>
                  <a:srgbClr val="00D4FF"/>
                </a:solidFill>
                <a:latin typeface="Arial"/>
              </a:defRPr>
            </a:pPr>
            <a:r>
              <a:t>悬停红边弹出</a:t>
            </a:r>
          </a:p>
          <a:p>
            <a:pPr>
              <a:defRPr sz="900">
                <a:solidFill>
                  <a:srgbClr val="D0D0E0"/>
                </a:solidFill>
                <a:latin typeface="Arial"/>
              </a:defRPr>
            </a:pPr>
            <a:r>
              <a:t>红色描边利用前注意弹出效果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2286000"/>
            <a:ext cx="36576" cy="47548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00800" y="2788920"/>
            <a:ext cx="2468880" cy="475488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>
              <a:defRPr sz="1100" b="1">
                <a:solidFill>
                  <a:srgbClr val="00D4FF"/>
                </a:solidFill>
                <a:latin typeface="Arial"/>
              </a:defRPr>
            </a:pPr>
            <a:r>
              <a:t>州下拉 + 人口刷选</a:t>
            </a:r>
          </a:p>
          <a:p>
            <a:pPr>
              <a:defRPr sz="900">
                <a:solidFill>
                  <a:srgbClr val="D0D0E0"/>
                </a:solidFill>
                <a:latin typeface="Arial"/>
              </a:defRPr>
            </a:pPr>
            <a:r>
              <a:t>D3 Brush 按行政区划和人口阈值动态过滤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2788920"/>
            <a:ext cx="36576" cy="47548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00800" y="3291840"/>
            <a:ext cx="2468880" cy="475488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>
              <a:defRPr sz="1100" b="1">
                <a:solidFill>
                  <a:srgbClr val="00D4FF"/>
                </a:solidFill>
                <a:latin typeface="Arial"/>
              </a:defRPr>
            </a:pPr>
            <a:r>
              <a:t>视口剔除 + 离屏缓存</a:t>
            </a:r>
          </a:p>
          <a:p>
            <a:pPr>
              <a:defRPr sz="900">
                <a:solidFill>
                  <a:srgbClr val="D0D0E0"/>
                </a:solidFill>
                <a:latin typeface="Arial"/>
              </a:defRPr>
            </a:pPr>
            <a:r>
              <a:t>双 Canvas 架构，仅绘制视野内气泡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291840"/>
            <a:ext cx="36576" cy="47548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总结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280160"/>
            <a:ext cx="2286000" cy="25603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1280160"/>
            <a:ext cx="2286000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0D4FF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色盲适配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0A0B8"/>
                </a:solidFill>
                <a:latin typeface="Arial"/>
              </a:defRPr>
            </a:pPr>
            <a:r>
              <a:t>Tableau10 调色板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6032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0A0B8"/>
                </a:solidFill>
                <a:latin typeface="Arial"/>
              </a:defRPr>
            </a:pPr>
            <a:r>
              <a:t>YlOrRd 亮度变化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3464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0A0B8"/>
                </a:solidFill>
                <a:latin typeface="Arial"/>
              </a:defRPr>
            </a:pPr>
            <a:r>
              <a:t>连续着色替代离散桶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720" y="1280160"/>
            <a:ext cx="2286000" cy="25603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74720" y="1280160"/>
            <a:ext cx="2286000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14630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0D4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1920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交互增强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2860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0A0B8"/>
                </a:solidFill>
                <a:latin typeface="Arial"/>
              </a:defRPr>
            </a:pPr>
            <a:r>
              <a:t>悬停高亮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256032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0A0B8"/>
                </a:solidFill>
                <a:latin typeface="Arial"/>
              </a:defRPr>
            </a:pPr>
            <a:r>
              <a:t>点击聚焦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283464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0A0B8"/>
                </a:solidFill>
                <a:latin typeface="Arial"/>
              </a:defRPr>
            </a:pPr>
            <a:r>
              <a:t>缩放平移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10896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0A0B8"/>
                </a:solidFill>
                <a:latin typeface="Arial"/>
              </a:defRPr>
            </a:pPr>
            <a:r>
              <a:t>刷选筛选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1280160"/>
            <a:ext cx="2286000" cy="25603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35040" y="1280160"/>
            <a:ext cx="2286000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40" y="14630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0D4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1920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前注意特征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22860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0A0B8"/>
                </a:solidFill>
                <a:latin typeface="Arial"/>
              </a:defRPr>
            </a:pPr>
            <a:r>
              <a:t>颜色对比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256032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0A0B8"/>
                </a:solidFill>
                <a:latin typeface="Arial"/>
              </a:defRPr>
            </a:pPr>
            <a:r>
              <a:t>描边高亮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0" y="283464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0A0B8"/>
                </a:solidFill>
                <a:latin typeface="Arial"/>
              </a:defRPr>
            </a:pPr>
            <a:r>
              <a:t>透明度变化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0" y="310896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0A0B8"/>
                </a:solidFill>
                <a:latin typeface="Arial"/>
              </a:defRPr>
            </a:pPr>
            <a:r>
              <a:t>亮度差异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0B8"/>
                </a:solidFill>
                <a:latin typeface="Arial"/>
              </a:defRPr>
            </a:pPr>
            <a:r>
              <a:t>静态图表展示数据，交互式图表让用户探索数据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感谢聆听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75488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00D4FF"/>
                </a:solidFill>
                <a:latin typeface="Arial"/>
                <a:hlinkClick r:id="rId2"/>
              </a:rPr>
              <a:t>github.com/STU-VAD/Assignment-2</a:t>
            </a:r>
            <a:r>
              <a:rPr sz="1000">
                <a:solidFill>
                  <a:srgbClr val="5A6A8A"/>
                </a:solidFill>
                <a:latin typeface="Arial"/>
              </a:rPr>
              <a:t>  |  </a:t>
            </a:r>
            <a:r>
              <a:rPr sz="1000">
                <a:solidFill>
                  <a:srgbClr val="00D4FF"/>
                </a:solidFill>
                <a:latin typeface="Arial"/>
                <a:hlinkClick r:id="rId3"/>
              </a:rPr>
              <a:t>stu-vad.github.io/Assignment-2/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0" y="5029200"/>
            <a:ext cx="914400" cy="2743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