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611F69-CCE5-27F2-FE86-D3948F41AC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84C90E-5260-9029-18D5-0495277504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A45804-5C78-4743-FA87-704ACC5E15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ACBF30-F32D-F8AD-1BF6-603E9658B0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D2F9F3-92DB-296E-00D0-0C79AB2C62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9F9A16-946F-49B5-3497-809BDE08E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FC51A2-B6A5-451B-0679-515565967D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DB5A1A-54E1-C12D-AA78-0FF2CE6AFB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4B7BEB-FF66-2B99-963A-CCABDD152A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8A4A49-8DE4-7416-390F-800C48A767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3DBB0A-C0E6-3104-71F1-5660E17AC4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883DA-8E91-C5FF-3999-0744CDBB63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84B87D-9919-12E5-F175-3D910FCD4F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65711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53438357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865301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277000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39195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808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024868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13948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582843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40578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22093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78267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07675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050039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23022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3658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537301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033157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011041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028535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655314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5805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630137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551104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0297377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4429637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197798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2991340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837962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6928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232737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8576074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15327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27461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7794398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575808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470395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5597289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853214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2738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2615580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459915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14197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775622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5368499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732376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361944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45202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8864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552104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33111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37961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52306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44176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272557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98445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1191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77409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20924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92644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4267081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53354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141181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STU-VAD/Assignment-2" TargetMode="External"/><Relationship Id="rId4" Type="http://schemas.openxmlformats.org/officeDocument/2006/relationships/hyperlink" Target="https://stu-vad.github.io/Assignment-2/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hyperlink" Target="https://observablehq.com/@d3/chord-diagram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hyperlink" Target="https://observablehq.com/@d3/zoomable-sunburst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hyperlink" Target="https://observablehq.com/@jashkenas/quakespotter-0-1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hyperlink" Target="https://observablehq.com/@d3/bubble-map/2" TargetMode="Externa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STU-VAD/Assignment-2" TargetMode="External"/><Relationship Id="rId4" Type="http://schemas.openxmlformats.org/officeDocument/2006/relationships/hyperlink" Target="https://stu-vad.github.io/Assignment-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146157" name="Rectangle 1"/>
          <p:cNvSpPr/>
          <p:nvPr/>
        </p:nvSpPr>
        <p:spPr bwMode="auto">
          <a:xfrm>
            <a:off x="2286000" y="1097280"/>
            <a:ext cx="4572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9403722" name="TextBox 2"/>
          <p:cNvSpPr txBox="1"/>
          <p:nvPr/>
        </p:nvSpPr>
        <p:spPr bwMode="auto">
          <a:xfrm flipH="0" flipV="0">
            <a:off x="1882128" y="1371240"/>
            <a:ext cx="5379741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Comic Sans MS"/>
                <a:ea typeface="Comic Sans MS"/>
                <a:cs typeface="Comic Sans MS"/>
              </a:rPr>
              <a:t>Improvement of chart</a:t>
            </a:r>
            <a:endParaRPr/>
          </a:p>
        </p:txBody>
      </p:sp>
      <p:sp>
        <p:nvSpPr>
          <p:cNvPr id="1538133018" name="TextBox 3"/>
          <p:cNvSpPr txBox="1"/>
          <p:nvPr/>
        </p:nvSpPr>
        <p:spPr bwMode="auto"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  <a:latin typeface="Arial"/>
              </a:defRPr>
            </a:pPr>
            <a:r>
              <a:rPr/>
              <a:t>数据可视化作业汇报</a:t>
            </a:r>
            <a:endParaRPr/>
          </a:p>
        </p:txBody>
      </p:sp>
      <p:sp>
        <p:nvSpPr>
          <p:cNvPr id="1275064429" name="TextBox 4"/>
          <p:cNvSpPr txBox="1"/>
          <p:nvPr/>
        </p:nvSpPr>
        <p:spPr bwMode="auto">
          <a:xfrm>
            <a:off x="457200" y="2926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8"/>
                </a:solidFill>
                <a:latin typeface="Arial"/>
              </a:defRPr>
            </a:pPr>
            <a:r>
              <a:rPr/>
              <a:t>罗展彬 · 黄应辉 · 钱俊企 · 李舒达 · 丁晨洋 · 卢仪曾 · 郑逸驰 · 李芝轩 · 孙海骏 · 何键韬</a:t>
            </a:r>
            <a:endParaRPr/>
          </a:p>
        </p:txBody>
      </p:sp>
      <p:sp>
        <p:nvSpPr>
          <p:cNvPr id="1232711049" name="TextBox 5"/>
          <p:cNvSpPr txBox="1"/>
          <p:nvPr/>
        </p:nvSpPr>
        <p:spPr bwMode="auto"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8"/>
                </a:solidFill>
                <a:latin typeface="Arial"/>
              </a:defRPr>
            </a:pPr>
            <a:r>
              <a:rPr/>
              <a:t>2026 年 5 月</a:t>
            </a:r>
            <a:endParaRPr/>
          </a:p>
        </p:txBody>
      </p:sp>
      <p:sp>
        <p:nvSpPr>
          <p:cNvPr id="928727112" name="TextBox 6"/>
          <p:cNvSpPr txBox="1"/>
          <p:nvPr/>
        </p:nvSpPr>
        <p:spPr bwMode="auto">
          <a:xfrm>
            <a:off x="137160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>
                <a:solidFill>
                  <a:srgbClr val="5A6A8A"/>
                </a:solidFill>
                <a:latin typeface="Arial"/>
              </a:rPr>
              <a:t>仓库：</a:t>
            </a:r>
            <a:r>
              <a:rPr sz="1000" u="sng">
                <a:solidFill>
                  <a:srgbClr val="00D4FF"/>
                </a:solidFill>
                <a:latin typeface="Arial"/>
                <a:hlinkClick r:id="rId3" tooltip=""/>
              </a:rPr>
              <a:t>github.com/STU-VAD/Assignment-2</a:t>
            </a:r>
            <a:r>
              <a:rPr sz="1000">
                <a:solidFill>
                  <a:srgbClr val="5A6A8A"/>
                </a:solidFill>
                <a:latin typeface="Arial"/>
              </a:rPr>
              <a:t>    演示：</a:t>
            </a:r>
            <a:r>
              <a:rPr sz="1000" u="sng">
                <a:solidFill>
                  <a:srgbClr val="00D4FF"/>
                </a:solidFill>
                <a:latin typeface="Arial"/>
                <a:hlinkClick r:id="rId4" tooltip=""/>
              </a:rPr>
              <a:t>stu-vad.github.io/Assignment-2/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796405" name="Rectangle 1"/>
          <p:cNvSpPr/>
          <p:nvPr/>
        </p:nvSpPr>
        <p:spPr bwMode="auto">
          <a:xfrm>
            <a:off x="384048" y="256032"/>
            <a:ext cx="4572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9670236" name="TextBox 2"/>
          <p:cNvSpPr txBox="1"/>
          <p:nvPr/>
        </p:nvSpPr>
        <p:spPr bwMode="auto">
          <a:xfrm>
            <a:off x="5029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rPr/>
              <a:t>项目概览</a:t>
            </a:r>
            <a:endParaRPr/>
          </a:p>
        </p:txBody>
      </p:sp>
      <p:sp>
        <p:nvSpPr>
          <p:cNvPr id="1220804763" name="Rounded Rectangle 3"/>
          <p:cNvSpPr/>
          <p:nvPr/>
        </p:nvSpPr>
        <p:spPr bwMode="auto">
          <a:xfrm>
            <a:off x="457200" y="77724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9318623" name="Rectangle 4"/>
          <p:cNvSpPr/>
          <p:nvPr/>
        </p:nvSpPr>
        <p:spPr bwMode="auto">
          <a:xfrm>
            <a:off x="457200" y="777240"/>
            <a:ext cx="36576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9130662" name="TextBox 5"/>
          <p:cNvSpPr txBox="1"/>
          <p:nvPr/>
        </p:nvSpPr>
        <p:spPr bwMode="auto">
          <a:xfrm>
            <a:off x="594360" y="8046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Chart 1 — 弦图 Chord Diagram</a:t>
            </a:r>
            <a:endParaRPr/>
          </a:p>
        </p:txBody>
      </p:sp>
      <p:sp>
        <p:nvSpPr>
          <p:cNvPr id="610362798" name="TextBox 6"/>
          <p:cNvSpPr txBox="1"/>
          <p:nvPr/>
        </p:nvSpPr>
        <p:spPr bwMode="auto">
          <a:xfrm>
            <a:off x="594360" y="1033271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4FF"/>
                </a:solidFill>
                <a:latin typeface="Arial"/>
              </a:defRPr>
            </a:pPr>
            <a:r>
              <a:rPr/>
              <a:t>品牌间用户迁移流向</a:t>
            </a:r>
            <a:endParaRPr/>
          </a:p>
        </p:txBody>
      </p:sp>
      <p:sp>
        <p:nvSpPr>
          <p:cNvPr id="389838434" name="Rounded Rectangle 7"/>
          <p:cNvSpPr/>
          <p:nvPr/>
        </p:nvSpPr>
        <p:spPr bwMode="auto">
          <a:xfrm>
            <a:off x="457200" y="137160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9284329" name="Rectangle 8"/>
          <p:cNvSpPr/>
          <p:nvPr/>
        </p:nvSpPr>
        <p:spPr bwMode="auto">
          <a:xfrm>
            <a:off x="457200" y="1371600"/>
            <a:ext cx="36576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2514569" name="TextBox 9"/>
          <p:cNvSpPr txBox="1"/>
          <p:nvPr/>
        </p:nvSpPr>
        <p:spPr bwMode="auto">
          <a:xfrm>
            <a:off x="594360" y="13990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Chart 2 — 旭日图 Zoomable Sunburst</a:t>
            </a:r>
            <a:endParaRPr/>
          </a:p>
        </p:txBody>
      </p:sp>
      <p:sp>
        <p:nvSpPr>
          <p:cNvPr id="166606948" name="TextBox 10"/>
          <p:cNvSpPr txBox="1"/>
          <p:nvPr/>
        </p:nvSpPr>
        <p:spPr bwMode="auto">
          <a:xfrm>
            <a:off x="594360" y="162763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4FF"/>
                </a:solidFill>
                <a:latin typeface="Arial"/>
              </a:defRPr>
            </a:pPr>
            <a:r>
              <a:rPr/>
              <a:t>层级数据钻取探索</a:t>
            </a:r>
            <a:endParaRPr/>
          </a:p>
        </p:txBody>
      </p:sp>
      <p:sp>
        <p:nvSpPr>
          <p:cNvPr id="1379428604" name="Rounded Rectangle 11"/>
          <p:cNvSpPr/>
          <p:nvPr/>
        </p:nvSpPr>
        <p:spPr bwMode="auto">
          <a:xfrm>
            <a:off x="457200" y="196596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3927147" name="Rectangle 12"/>
          <p:cNvSpPr/>
          <p:nvPr/>
        </p:nvSpPr>
        <p:spPr bwMode="auto">
          <a:xfrm>
            <a:off x="457200" y="1965960"/>
            <a:ext cx="36576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3089731" name="TextBox 13"/>
          <p:cNvSpPr txBox="1"/>
          <p:nvPr/>
        </p:nvSpPr>
        <p:spPr bwMode="auto">
          <a:xfrm>
            <a:off x="594360" y="199339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Chart 3 — 地震地图 QuakeSpotter</a:t>
            </a:r>
            <a:endParaRPr/>
          </a:p>
        </p:txBody>
      </p:sp>
      <p:sp>
        <p:nvSpPr>
          <p:cNvPr id="1465480786" name="TextBox 14"/>
          <p:cNvSpPr txBox="1"/>
          <p:nvPr/>
        </p:nvSpPr>
        <p:spPr bwMode="auto">
          <a:xfrm>
            <a:off x="594360" y="2221991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4FF"/>
                </a:solidFill>
                <a:latin typeface="Arial"/>
              </a:defRPr>
            </a:pPr>
            <a:r>
              <a:rPr/>
              <a:t>全球地震数据可视化</a:t>
            </a:r>
            <a:endParaRPr/>
          </a:p>
        </p:txBody>
      </p:sp>
      <p:sp>
        <p:nvSpPr>
          <p:cNvPr id="1096747962" name="Rounded Rectangle 15"/>
          <p:cNvSpPr/>
          <p:nvPr/>
        </p:nvSpPr>
        <p:spPr bwMode="auto">
          <a:xfrm>
            <a:off x="457200" y="2560320"/>
            <a:ext cx="3840480" cy="5029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2709422" name="Rectangle 16"/>
          <p:cNvSpPr/>
          <p:nvPr/>
        </p:nvSpPr>
        <p:spPr bwMode="auto">
          <a:xfrm>
            <a:off x="457200" y="2560320"/>
            <a:ext cx="36576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5639894" name="TextBox 17"/>
          <p:cNvSpPr txBox="1"/>
          <p:nvPr/>
        </p:nvSpPr>
        <p:spPr bwMode="auto">
          <a:xfrm>
            <a:off x="594360" y="258775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Chart 4 — 气泡地图 Bubble Map</a:t>
            </a:r>
            <a:endParaRPr/>
          </a:p>
        </p:txBody>
      </p:sp>
      <p:sp>
        <p:nvSpPr>
          <p:cNvPr id="1058109377" name="TextBox 18"/>
          <p:cNvSpPr txBox="1"/>
          <p:nvPr/>
        </p:nvSpPr>
        <p:spPr bwMode="auto">
          <a:xfrm>
            <a:off x="594360" y="281635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4FF"/>
                </a:solidFill>
                <a:latin typeface="Arial"/>
              </a:defRPr>
            </a:pPr>
            <a:r>
              <a:rPr/>
              <a:t>美国县级人口分布</a:t>
            </a:r>
            <a:endParaRPr/>
          </a:p>
        </p:txBody>
      </p:sp>
      <p:sp>
        <p:nvSpPr>
          <p:cNvPr id="1465724129" name="TextBox 19"/>
          <p:cNvSpPr txBox="1"/>
          <p:nvPr/>
        </p:nvSpPr>
        <p:spPr bwMode="auto">
          <a:xfrm>
            <a:off x="4754880" y="777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rPr/>
              <a:t>小组分工</a:t>
            </a:r>
            <a:endParaRPr/>
          </a:p>
        </p:txBody>
      </p:sp>
      <p:sp>
        <p:nvSpPr>
          <p:cNvPr id="1190953232" name="TextBox 20"/>
          <p:cNvSpPr txBox="1"/>
          <p:nvPr/>
        </p:nvSpPr>
        <p:spPr bwMode="auto">
          <a:xfrm>
            <a:off x="4754880" y="1143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rPr/>
              <a:t>罗展彬</a:t>
            </a:r>
            <a:endParaRPr/>
          </a:p>
        </p:txBody>
      </p:sp>
      <p:sp>
        <p:nvSpPr>
          <p:cNvPr id="1523248678" name="TextBox 21"/>
          <p:cNvSpPr txBox="1"/>
          <p:nvPr/>
        </p:nvSpPr>
        <p:spPr bwMode="auto">
          <a:xfrm>
            <a:off x="585216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0D0E0"/>
                </a:solidFill>
                <a:latin typeface="Arial"/>
              </a:defRPr>
            </a:pPr>
            <a:r>
              <a:rPr/>
              <a:t>Chart2 旭日图</a:t>
            </a:r>
            <a:endParaRPr/>
          </a:p>
        </p:txBody>
      </p:sp>
      <p:sp>
        <p:nvSpPr>
          <p:cNvPr id="1409818104" name="TextBox 22"/>
          <p:cNvSpPr txBox="1"/>
          <p:nvPr/>
        </p:nvSpPr>
        <p:spPr bwMode="auto">
          <a:xfrm>
            <a:off x="7772400" y="1143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4FF"/>
                </a:solidFill>
                <a:latin typeface="Arial"/>
              </a:defRPr>
            </a:pPr>
            <a:r>
              <a:rPr/>
              <a:t>17%</a:t>
            </a:r>
            <a:endParaRPr/>
          </a:p>
        </p:txBody>
      </p:sp>
      <p:sp>
        <p:nvSpPr>
          <p:cNvPr id="1824491497" name="TextBox 23"/>
          <p:cNvSpPr txBox="1"/>
          <p:nvPr/>
        </p:nvSpPr>
        <p:spPr bwMode="auto">
          <a:xfrm>
            <a:off x="4754880" y="1463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rPr/>
              <a:t>黄应辉</a:t>
            </a:r>
            <a:endParaRPr/>
          </a:p>
        </p:txBody>
      </p:sp>
      <p:sp>
        <p:nvSpPr>
          <p:cNvPr id="1801961818" name="TextBox 24"/>
          <p:cNvSpPr txBox="1"/>
          <p:nvPr/>
        </p:nvSpPr>
        <p:spPr bwMode="auto">
          <a:xfrm>
            <a:off x="585216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0D0E0"/>
                </a:solidFill>
                <a:latin typeface="Arial"/>
              </a:defRPr>
            </a:pPr>
            <a:r>
              <a:rPr/>
              <a:t>统筹 · 报告 · PPT</a:t>
            </a:r>
            <a:endParaRPr/>
          </a:p>
        </p:txBody>
      </p:sp>
      <p:sp>
        <p:nvSpPr>
          <p:cNvPr id="617819535" name="TextBox 25"/>
          <p:cNvSpPr txBox="1"/>
          <p:nvPr/>
        </p:nvSpPr>
        <p:spPr bwMode="auto">
          <a:xfrm>
            <a:off x="7772400" y="1463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4FF"/>
                </a:solidFill>
                <a:latin typeface="Arial"/>
              </a:defRPr>
            </a:pPr>
            <a:r>
              <a:rPr/>
              <a:t>15%</a:t>
            </a:r>
            <a:endParaRPr/>
          </a:p>
        </p:txBody>
      </p:sp>
      <p:sp>
        <p:nvSpPr>
          <p:cNvPr id="1410707163" name="TextBox 26"/>
          <p:cNvSpPr txBox="1"/>
          <p:nvPr/>
        </p:nvSpPr>
        <p:spPr bwMode="auto">
          <a:xfrm>
            <a:off x="475488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rPr/>
              <a:t>钱俊企</a:t>
            </a:r>
            <a:endParaRPr/>
          </a:p>
        </p:txBody>
      </p:sp>
      <p:sp>
        <p:nvSpPr>
          <p:cNvPr id="604642442" name="TextBox 27"/>
          <p:cNvSpPr txBox="1"/>
          <p:nvPr/>
        </p:nvSpPr>
        <p:spPr bwMode="auto">
          <a:xfrm>
            <a:off x="585216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0D0E0"/>
                </a:solidFill>
                <a:latin typeface="Arial"/>
              </a:defRPr>
            </a:pPr>
            <a:r>
              <a:rPr/>
              <a:t>Chart1 弦图</a:t>
            </a:r>
            <a:endParaRPr/>
          </a:p>
        </p:txBody>
      </p:sp>
      <p:sp>
        <p:nvSpPr>
          <p:cNvPr id="356587948" name="TextBox 28"/>
          <p:cNvSpPr txBox="1"/>
          <p:nvPr/>
        </p:nvSpPr>
        <p:spPr bwMode="auto">
          <a:xfrm>
            <a:off x="7772400" y="1783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4FF"/>
                </a:solidFill>
                <a:latin typeface="Arial"/>
              </a:defRPr>
            </a:pPr>
            <a:r>
              <a:rPr/>
              <a:t>14%</a:t>
            </a:r>
            <a:endParaRPr/>
          </a:p>
        </p:txBody>
      </p:sp>
      <p:sp>
        <p:nvSpPr>
          <p:cNvPr id="406670004" name="TextBox 29"/>
          <p:cNvSpPr txBox="1"/>
          <p:nvPr/>
        </p:nvSpPr>
        <p:spPr bwMode="auto">
          <a:xfrm>
            <a:off x="475488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rPr/>
              <a:t>李舒达</a:t>
            </a:r>
            <a:endParaRPr/>
          </a:p>
        </p:txBody>
      </p:sp>
      <p:sp>
        <p:nvSpPr>
          <p:cNvPr id="818111425" name="TextBox 30"/>
          <p:cNvSpPr txBox="1"/>
          <p:nvPr/>
        </p:nvSpPr>
        <p:spPr bwMode="auto">
          <a:xfrm>
            <a:off x="585216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0D0E0"/>
                </a:solidFill>
                <a:latin typeface="Arial"/>
              </a:defRPr>
            </a:pPr>
            <a:r>
              <a:rPr/>
              <a:t>Chart3 地震地图</a:t>
            </a:r>
            <a:endParaRPr/>
          </a:p>
        </p:txBody>
      </p:sp>
      <p:sp>
        <p:nvSpPr>
          <p:cNvPr id="1736657198" name="TextBox 31"/>
          <p:cNvSpPr txBox="1"/>
          <p:nvPr/>
        </p:nvSpPr>
        <p:spPr bwMode="auto">
          <a:xfrm>
            <a:off x="7772400" y="2103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4FF"/>
                </a:solidFill>
                <a:latin typeface="Arial"/>
              </a:defRPr>
            </a:pPr>
            <a:r>
              <a:rPr/>
              <a:t>13%</a:t>
            </a:r>
            <a:endParaRPr/>
          </a:p>
        </p:txBody>
      </p:sp>
      <p:sp>
        <p:nvSpPr>
          <p:cNvPr id="1073167087" name="TextBox 32"/>
          <p:cNvSpPr txBox="1"/>
          <p:nvPr/>
        </p:nvSpPr>
        <p:spPr bwMode="auto">
          <a:xfrm>
            <a:off x="4754880" y="2423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rPr/>
              <a:t>丁晨洋</a:t>
            </a:r>
            <a:endParaRPr/>
          </a:p>
        </p:txBody>
      </p:sp>
      <p:sp>
        <p:nvSpPr>
          <p:cNvPr id="1603987528" name="TextBox 33"/>
          <p:cNvSpPr txBox="1"/>
          <p:nvPr/>
        </p:nvSpPr>
        <p:spPr bwMode="auto">
          <a:xfrm>
            <a:off x="585216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0D0E0"/>
                </a:solidFill>
                <a:latin typeface="Arial"/>
              </a:defRPr>
            </a:pPr>
            <a:r>
              <a:rPr/>
              <a:t>Chart4 气泡地图</a:t>
            </a:r>
            <a:endParaRPr/>
          </a:p>
        </p:txBody>
      </p:sp>
      <p:sp>
        <p:nvSpPr>
          <p:cNvPr id="39290096" name="TextBox 34"/>
          <p:cNvSpPr txBox="1"/>
          <p:nvPr/>
        </p:nvSpPr>
        <p:spPr bwMode="auto">
          <a:xfrm>
            <a:off x="7772400" y="2423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4FF"/>
                </a:solidFill>
                <a:latin typeface="Arial"/>
              </a:defRPr>
            </a:pPr>
            <a:r>
              <a:rPr/>
              <a:t>10.5%</a:t>
            </a:r>
            <a:endParaRPr/>
          </a:p>
        </p:txBody>
      </p:sp>
      <p:sp>
        <p:nvSpPr>
          <p:cNvPr id="602960851" name="TextBox 35"/>
          <p:cNvSpPr txBox="1"/>
          <p:nvPr/>
        </p:nvSpPr>
        <p:spPr bwMode="auto">
          <a:xfrm>
            <a:off x="475488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rPr/>
              <a:t>卢仪曾</a:t>
            </a:r>
            <a:endParaRPr/>
          </a:p>
        </p:txBody>
      </p:sp>
      <p:sp>
        <p:nvSpPr>
          <p:cNvPr id="1647143133" name="TextBox 36"/>
          <p:cNvSpPr txBox="1"/>
          <p:nvPr/>
        </p:nvSpPr>
        <p:spPr bwMode="auto">
          <a:xfrm>
            <a:off x="585216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0D0E0"/>
                </a:solidFill>
                <a:latin typeface="Arial"/>
              </a:defRPr>
            </a:pPr>
            <a:r>
              <a:rPr/>
              <a:t>Chart4 气泡地图</a:t>
            </a:r>
            <a:endParaRPr/>
          </a:p>
        </p:txBody>
      </p:sp>
      <p:sp>
        <p:nvSpPr>
          <p:cNvPr id="1883996397" name="TextBox 37"/>
          <p:cNvSpPr txBox="1"/>
          <p:nvPr/>
        </p:nvSpPr>
        <p:spPr bwMode="auto">
          <a:xfrm>
            <a:off x="7772400" y="2743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4FF"/>
                </a:solidFill>
                <a:latin typeface="Arial"/>
              </a:defRPr>
            </a:pPr>
            <a:r>
              <a:rPr/>
              <a:t>10.5%</a:t>
            </a:r>
            <a:endParaRPr/>
          </a:p>
        </p:txBody>
      </p:sp>
      <p:sp>
        <p:nvSpPr>
          <p:cNvPr id="1092811367" name="TextBox 38"/>
          <p:cNvSpPr txBox="1"/>
          <p:nvPr/>
        </p:nvSpPr>
        <p:spPr bwMode="auto">
          <a:xfrm>
            <a:off x="4754880" y="306323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rPr/>
              <a:t>郑逸驰</a:t>
            </a:r>
            <a:endParaRPr/>
          </a:p>
        </p:txBody>
      </p:sp>
      <p:sp>
        <p:nvSpPr>
          <p:cNvPr id="1307074665" name="TextBox 39"/>
          <p:cNvSpPr txBox="1"/>
          <p:nvPr/>
        </p:nvSpPr>
        <p:spPr bwMode="auto">
          <a:xfrm>
            <a:off x="5852160" y="306323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0D0E0"/>
                </a:solidFill>
                <a:latin typeface="Arial"/>
              </a:defRPr>
            </a:pPr>
            <a:r>
              <a:rPr/>
              <a:t>设计讨论</a:t>
            </a:r>
            <a:endParaRPr/>
          </a:p>
        </p:txBody>
      </p:sp>
      <p:sp>
        <p:nvSpPr>
          <p:cNvPr id="361243619" name="TextBox 40"/>
          <p:cNvSpPr txBox="1"/>
          <p:nvPr/>
        </p:nvSpPr>
        <p:spPr bwMode="auto">
          <a:xfrm>
            <a:off x="7772400" y="306323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4FF"/>
                </a:solidFill>
                <a:latin typeface="Arial"/>
              </a:defRPr>
            </a:pPr>
            <a:r>
              <a:rPr/>
              <a:t>5%</a:t>
            </a:r>
            <a:endParaRPr/>
          </a:p>
        </p:txBody>
      </p:sp>
      <p:sp>
        <p:nvSpPr>
          <p:cNvPr id="977991631" name="TextBox 41"/>
          <p:cNvSpPr txBox="1"/>
          <p:nvPr/>
        </p:nvSpPr>
        <p:spPr bwMode="auto">
          <a:xfrm>
            <a:off x="4754880" y="33832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rPr/>
              <a:t>李芝轩</a:t>
            </a:r>
            <a:endParaRPr/>
          </a:p>
        </p:txBody>
      </p:sp>
      <p:sp>
        <p:nvSpPr>
          <p:cNvPr id="620102267" name="TextBox 42"/>
          <p:cNvSpPr txBox="1"/>
          <p:nvPr/>
        </p:nvSpPr>
        <p:spPr bwMode="auto">
          <a:xfrm>
            <a:off x="5852160" y="33832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0D0E0"/>
                </a:solidFill>
                <a:latin typeface="Arial"/>
              </a:defRPr>
            </a:pPr>
            <a:r>
              <a:rPr/>
              <a:t>设计讨论</a:t>
            </a:r>
            <a:endParaRPr/>
          </a:p>
        </p:txBody>
      </p:sp>
      <p:sp>
        <p:nvSpPr>
          <p:cNvPr id="1796516521" name="TextBox 43"/>
          <p:cNvSpPr txBox="1"/>
          <p:nvPr/>
        </p:nvSpPr>
        <p:spPr bwMode="auto">
          <a:xfrm>
            <a:off x="7772400" y="338327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4FF"/>
                </a:solidFill>
                <a:latin typeface="Arial"/>
              </a:defRPr>
            </a:pPr>
            <a:r>
              <a:rPr/>
              <a:t>5%</a:t>
            </a:r>
            <a:endParaRPr/>
          </a:p>
        </p:txBody>
      </p:sp>
      <p:sp>
        <p:nvSpPr>
          <p:cNvPr id="1097449760" name="TextBox 44"/>
          <p:cNvSpPr txBox="1"/>
          <p:nvPr/>
        </p:nvSpPr>
        <p:spPr bwMode="auto">
          <a:xfrm>
            <a:off x="475488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rPr/>
              <a:t>孙海骏</a:t>
            </a:r>
            <a:endParaRPr/>
          </a:p>
        </p:txBody>
      </p:sp>
      <p:sp>
        <p:nvSpPr>
          <p:cNvPr id="1710724336" name="TextBox 45"/>
          <p:cNvSpPr txBox="1"/>
          <p:nvPr/>
        </p:nvSpPr>
        <p:spPr bwMode="auto">
          <a:xfrm>
            <a:off x="585216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0D0E0"/>
                </a:solidFill>
                <a:latin typeface="Arial"/>
              </a:defRPr>
            </a:pPr>
            <a:r>
              <a:rPr/>
              <a:t>设计讨论</a:t>
            </a:r>
            <a:endParaRPr/>
          </a:p>
        </p:txBody>
      </p:sp>
      <p:sp>
        <p:nvSpPr>
          <p:cNvPr id="1208412945" name="TextBox 46"/>
          <p:cNvSpPr txBox="1"/>
          <p:nvPr/>
        </p:nvSpPr>
        <p:spPr bwMode="auto">
          <a:xfrm>
            <a:off x="7772400" y="3703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4FF"/>
                </a:solidFill>
                <a:latin typeface="Arial"/>
              </a:defRPr>
            </a:pPr>
            <a:r>
              <a:rPr/>
              <a:t>5%</a:t>
            </a:r>
            <a:endParaRPr/>
          </a:p>
        </p:txBody>
      </p:sp>
      <p:sp>
        <p:nvSpPr>
          <p:cNvPr id="1446483374" name="TextBox 47"/>
          <p:cNvSpPr txBox="1"/>
          <p:nvPr/>
        </p:nvSpPr>
        <p:spPr bwMode="auto">
          <a:xfrm>
            <a:off x="4754880" y="4023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rPr/>
              <a:t>何键韬</a:t>
            </a:r>
            <a:endParaRPr/>
          </a:p>
        </p:txBody>
      </p:sp>
      <p:sp>
        <p:nvSpPr>
          <p:cNvPr id="796086890" name="TextBox 48"/>
          <p:cNvSpPr txBox="1"/>
          <p:nvPr/>
        </p:nvSpPr>
        <p:spPr bwMode="auto">
          <a:xfrm>
            <a:off x="585216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0D0E0"/>
                </a:solidFill>
                <a:latin typeface="Arial"/>
              </a:defRPr>
            </a:pPr>
            <a:r>
              <a:rPr/>
              <a:t>设计讨论</a:t>
            </a:r>
            <a:endParaRPr/>
          </a:p>
        </p:txBody>
      </p:sp>
      <p:sp>
        <p:nvSpPr>
          <p:cNvPr id="1161474126" name="TextBox 49"/>
          <p:cNvSpPr txBox="1"/>
          <p:nvPr/>
        </p:nvSpPr>
        <p:spPr bwMode="auto">
          <a:xfrm>
            <a:off x="7772400" y="4023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4FF"/>
                </a:solidFill>
                <a:latin typeface="Arial"/>
              </a:defRPr>
            </a:pPr>
            <a:r>
              <a:rPr/>
              <a:t>5%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631366" name="Rectangle 1"/>
          <p:cNvSpPr/>
          <p:nvPr/>
        </p:nvSpPr>
        <p:spPr bwMode="auto">
          <a:xfrm>
            <a:off x="384048" y="256032"/>
            <a:ext cx="4572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7035495" name="TextBox 2"/>
          <p:cNvSpPr txBox="1"/>
          <p:nvPr/>
        </p:nvSpPr>
        <p:spPr bwMode="auto">
          <a:xfrm>
            <a:off x="475486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rPr/>
              <a:t>Chart 1 · 弦图 Chord Diagram</a:t>
            </a:r>
            <a:endParaRPr/>
          </a:p>
        </p:txBody>
      </p:sp>
      <p:sp>
        <p:nvSpPr>
          <p:cNvPr id="1029836422" name="Rectangle 3"/>
          <p:cNvSpPr/>
          <p:nvPr/>
        </p:nvSpPr>
        <p:spPr bwMode="auto">
          <a:xfrm>
            <a:off x="6799020" y="466344"/>
            <a:ext cx="10972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1A1A2E"/>
                </a:solidFill>
                <a:latin typeface="Arial"/>
              </a:defRPr>
            </a:pPr>
            <a:r>
              <a:rPr/>
              <a:t>原图分析</a:t>
            </a:r>
            <a:endParaRPr/>
          </a:p>
        </p:txBody>
      </p:sp>
      <p:pic>
        <p:nvPicPr>
          <p:cNvPr id="281815061" name="Picture 4" descr="chart1-origi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4048" y="722376"/>
            <a:ext cx="2824158" cy="2702578"/>
          </a:xfrm>
          <a:prstGeom prst="rect">
            <a:avLst/>
          </a:prstGeom>
        </p:spPr>
      </p:pic>
      <p:sp>
        <p:nvSpPr>
          <p:cNvPr id="218615441" name="TextBox 5"/>
          <p:cNvSpPr txBox="1"/>
          <p:nvPr/>
        </p:nvSpPr>
        <p:spPr bwMode="auto">
          <a:xfrm>
            <a:off x="629411" y="34518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A8A"/>
                </a:solidFill>
                <a:latin typeface="Arial"/>
              </a:defRPr>
            </a:pPr>
            <a:r>
              <a:rPr/>
              <a:t>原始弦图 — 正常视觉</a:t>
            </a:r>
            <a:endParaRPr/>
          </a:p>
        </p:txBody>
      </p:sp>
      <p:pic>
        <p:nvPicPr>
          <p:cNvPr id="540373094" name="Picture 6" descr="original_chord_deuteranopia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456432" y="1246023"/>
            <a:ext cx="2048255" cy="1280160"/>
          </a:xfrm>
          <a:prstGeom prst="rect">
            <a:avLst/>
          </a:prstGeom>
        </p:spPr>
      </p:pic>
      <p:sp>
        <p:nvSpPr>
          <p:cNvPr id="1069123605" name="TextBox 7"/>
          <p:cNvSpPr txBox="1"/>
          <p:nvPr/>
        </p:nvSpPr>
        <p:spPr bwMode="auto">
          <a:xfrm flipH="0" flipV="0">
            <a:off x="3456432" y="2663343"/>
            <a:ext cx="2048974" cy="232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A8A"/>
                </a:solidFill>
                <a:latin typeface="Arial"/>
              </a:defRPr>
            </a:pPr>
            <a:r>
              <a:rPr/>
              <a:t>红色盲模拟 — 品红/粉色不可区分</a:t>
            </a:r>
            <a:endParaRPr/>
          </a:p>
        </p:txBody>
      </p:sp>
      <p:sp>
        <p:nvSpPr>
          <p:cNvPr id="829013760" name="Rounded Rectangle 8"/>
          <p:cNvSpPr/>
          <p:nvPr/>
        </p:nvSpPr>
        <p:spPr bwMode="auto">
          <a:xfrm flipH="0" flipV="0">
            <a:off x="5849982" y="859535"/>
            <a:ext cx="2995356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1  色盲不友好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d3.schemeCategory10 调色板，8% 男性有色觉障碍</a:t>
            </a:r>
            <a:endParaRPr/>
          </a:p>
        </p:txBody>
      </p:sp>
      <p:sp>
        <p:nvSpPr>
          <p:cNvPr id="1627588429" name="Rectangle 9"/>
          <p:cNvSpPr/>
          <p:nvPr/>
        </p:nvSpPr>
        <p:spPr bwMode="auto">
          <a:xfrm flipH="0" flipV="0">
            <a:off x="5849982" y="859535"/>
            <a:ext cx="48312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2176436" name="Rounded Rectangle 10"/>
          <p:cNvSpPr/>
          <p:nvPr/>
        </p:nvSpPr>
        <p:spPr bwMode="auto">
          <a:xfrm flipH="0" flipV="0">
            <a:off x="5849982" y="1499614"/>
            <a:ext cx="2995356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2  无方向编码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迁移弧纯色填充，分不清流入还是流出</a:t>
            </a:r>
            <a:endParaRPr/>
          </a:p>
        </p:txBody>
      </p:sp>
      <p:sp>
        <p:nvSpPr>
          <p:cNvPr id="1973589509" name="Rectangle 11"/>
          <p:cNvSpPr/>
          <p:nvPr/>
        </p:nvSpPr>
        <p:spPr bwMode="auto">
          <a:xfrm flipH="0" flipV="0">
            <a:off x="5849982" y="1499614"/>
            <a:ext cx="48312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6342658" name="Rounded Rectangle 12"/>
          <p:cNvSpPr/>
          <p:nvPr/>
        </p:nvSpPr>
        <p:spPr bwMode="auto">
          <a:xfrm flipH="0" flipV="0">
            <a:off x="5849982" y="2139696"/>
            <a:ext cx="2995356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3  忠实/流失用户混淆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内圈自环与品牌间切换流混在一起</a:t>
            </a:r>
            <a:endParaRPr/>
          </a:p>
        </p:txBody>
      </p:sp>
      <p:sp>
        <p:nvSpPr>
          <p:cNvPr id="1159382682" name="Rectangle 13"/>
          <p:cNvSpPr/>
          <p:nvPr/>
        </p:nvSpPr>
        <p:spPr bwMode="auto">
          <a:xfrm flipH="0" flipV="0">
            <a:off x="5849982" y="2139696"/>
            <a:ext cx="48312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6134687" name="Rounded Rectangle 14"/>
          <p:cNvSpPr/>
          <p:nvPr/>
        </p:nvSpPr>
        <p:spPr bwMode="auto">
          <a:xfrm flipH="0" flipV="0">
            <a:off x="5849982" y="2779774"/>
            <a:ext cx="2995356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4  信息粒度不足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想了解具体品牌时信息粗略</a:t>
            </a:r>
            <a:endParaRPr/>
          </a:p>
        </p:txBody>
      </p:sp>
      <p:sp>
        <p:nvSpPr>
          <p:cNvPr id="2018347075" name="Rectangle 15"/>
          <p:cNvSpPr/>
          <p:nvPr/>
        </p:nvSpPr>
        <p:spPr bwMode="auto">
          <a:xfrm flipH="0" flipV="0">
            <a:off x="5849982" y="2779774"/>
            <a:ext cx="48312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1713816" name="TextBox 16"/>
          <p:cNvSpPr txBox="1"/>
          <p:nvPr/>
        </p:nvSpPr>
        <p:spPr bwMode="auto">
          <a:xfrm>
            <a:off x="365760" y="47091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800">
                <a:solidFill>
                  <a:srgbClr val="5A6A8A"/>
                </a:solidFill>
                <a:latin typeface="Arial"/>
              </a:rPr>
              <a:t>原图来源：</a:t>
            </a:r>
            <a:r>
              <a:rPr sz="800" u="sng">
                <a:solidFill>
                  <a:srgbClr val="00D4FF"/>
                </a:solidFill>
                <a:latin typeface="Arial"/>
                <a:hlinkClick r:id="rId5" tooltip=""/>
              </a:rPr>
              <a:t>https://observablehq.com/@d3/chord-diagram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071375" name="Rectangle 1"/>
          <p:cNvSpPr/>
          <p:nvPr/>
        </p:nvSpPr>
        <p:spPr bwMode="auto">
          <a:xfrm>
            <a:off x="384048" y="256032"/>
            <a:ext cx="4572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9682577" name="TextBox 2"/>
          <p:cNvSpPr txBox="1"/>
          <p:nvPr/>
        </p:nvSpPr>
        <p:spPr bwMode="auto">
          <a:xfrm>
            <a:off x="5029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rPr/>
              <a:t>Chart 1 · 弦图改进</a:t>
            </a:r>
            <a:endParaRPr/>
          </a:p>
        </p:txBody>
      </p:sp>
      <p:sp>
        <p:nvSpPr>
          <p:cNvPr id="1487386807" name="Rectangle 3"/>
          <p:cNvSpPr/>
          <p:nvPr/>
        </p:nvSpPr>
        <p:spPr bwMode="auto">
          <a:xfrm>
            <a:off x="6768405" y="402336"/>
            <a:ext cx="10972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1A1A2E"/>
                </a:solidFill>
                <a:latin typeface="Arial"/>
              </a:defRPr>
            </a:pPr>
            <a:r>
              <a:rPr/>
              <a:t>配色 · 方向 · 交互</a:t>
            </a:r>
            <a:endParaRPr/>
          </a:p>
        </p:txBody>
      </p:sp>
      <p:pic>
        <p:nvPicPr>
          <p:cNvPr id="1064305142" name="Picture 4" descr="colorblind_friendly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4048" y="658367"/>
            <a:ext cx="3011391" cy="2893096"/>
          </a:xfrm>
          <a:prstGeom prst="rect">
            <a:avLst/>
          </a:prstGeom>
        </p:spPr>
      </p:pic>
      <p:sp>
        <p:nvSpPr>
          <p:cNvPr id="1553624503" name="TextBox 5"/>
          <p:cNvSpPr txBox="1"/>
          <p:nvPr/>
        </p:nvSpPr>
        <p:spPr bwMode="auto">
          <a:xfrm flipH="0" flipV="0">
            <a:off x="384048" y="3667941"/>
            <a:ext cx="2053046" cy="232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A8A"/>
                </a:solidFill>
                <a:latin typeface="Arial"/>
              </a:defRPr>
            </a:pPr>
            <a:r>
              <a:rPr/>
              <a:t>Tableau10 调色板 — 色相间距更大</a:t>
            </a:r>
            <a:endParaRPr/>
          </a:p>
        </p:txBody>
      </p:sp>
      <p:pic>
        <p:nvPicPr>
          <p:cNvPr id="1463049383" name="Picture 6" descr="hover_interactio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973617" y="3093447"/>
            <a:ext cx="2686936" cy="2039438"/>
          </a:xfrm>
          <a:prstGeom prst="rect">
            <a:avLst/>
          </a:prstGeom>
        </p:spPr>
      </p:pic>
      <p:sp>
        <p:nvSpPr>
          <p:cNvPr id="1886751238" name="TextBox 7"/>
          <p:cNvSpPr txBox="1"/>
          <p:nvPr/>
        </p:nvSpPr>
        <p:spPr bwMode="auto">
          <a:xfrm>
            <a:off x="3449336" y="2807207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A8A"/>
                </a:solidFill>
                <a:latin typeface="Arial"/>
              </a:defRPr>
            </a:pPr>
            <a:r>
              <a:rPr/>
              <a:t>悬停淡化非相关品牌，强化目标</a:t>
            </a:r>
            <a:endParaRPr/>
          </a:p>
        </p:txBody>
      </p:sp>
      <p:sp>
        <p:nvSpPr>
          <p:cNvPr id="2124054896" name="Rounded Rectangle 8"/>
          <p:cNvSpPr/>
          <p:nvPr/>
        </p:nvSpPr>
        <p:spPr bwMode="auto">
          <a:xfrm flipH="0" flipV="0">
            <a:off x="5815964" y="777240"/>
            <a:ext cx="3002159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色盲安全配色</a:t>
            </a:r>
            <a:endParaRPr/>
          </a:p>
          <a:p>
            <a:pPr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替换为 d3.schemeTableau10，7 品牌色对比度更友好</a:t>
            </a:r>
            <a:endParaRPr/>
          </a:p>
        </p:txBody>
      </p:sp>
      <p:sp>
        <p:nvSpPr>
          <p:cNvPr id="1902106855" name="Rectangle 9"/>
          <p:cNvSpPr/>
          <p:nvPr/>
        </p:nvSpPr>
        <p:spPr bwMode="auto">
          <a:xfrm flipH="0" flipV="0">
            <a:off x="5815964" y="777240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2277312" name="Rounded Rectangle 10"/>
          <p:cNvSpPr/>
          <p:nvPr/>
        </p:nvSpPr>
        <p:spPr bwMode="auto">
          <a:xfrm flipH="0" flipV="0">
            <a:off x="5815964" y="1325880"/>
            <a:ext cx="3002159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渐变方向编码</a:t>
            </a:r>
            <a:endParaRPr/>
          </a:p>
          <a:p>
            <a:pPr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连接弧增加线性渐变填充，一眼看出迁移方向</a:t>
            </a:r>
            <a:endParaRPr/>
          </a:p>
        </p:txBody>
      </p:sp>
      <p:sp>
        <p:nvSpPr>
          <p:cNvPr id="2006595866" name="Rectangle 11"/>
          <p:cNvSpPr/>
          <p:nvPr/>
        </p:nvSpPr>
        <p:spPr bwMode="auto">
          <a:xfrm flipH="0" flipV="0">
            <a:off x="5815964" y="1325880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0911399" name="Rounded Rectangle 12"/>
          <p:cNvSpPr/>
          <p:nvPr/>
        </p:nvSpPr>
        <p:spPr bwMode="auto">
          <a:xfrm flipH="0" flipV="0">
            <a:off x="5815964" y="1874518"/>
            <a:ext cx="3002159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悬停弹出效果</a:t>
            </a:r>
            <a:endParaRPr/>
          </a:p>
          <a:p>
            <a:pPr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淡化非相关品牌，强化目标品牌，颜色加深</a:t>
            </a:r>
            <a:endParaRPr/>
          </a:p>
        </p:txBody>
      </p:sp>
      <p:sp>
        <p:nvSpPr>
          <p:cNvPr id="1294362306" name="Rectangle 13"/>
          <p:cNvSpPr/>
          <p:nvPr/>
        </p:nvSpPr>
        <p:spPr bwMode="auto">
          <a:xfrm flipH="0" flipV="0">
            <a:off x="5815964" y="1874518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7137563" name="Rounded Rectangle 14"/>
          <p:cNvSpPr/>
          <p:nvPr/>
        </p:nvSpPr>
        <p:spPr bwMode="auto">
          <a:xfrm flipH="0" flipV="0">
            <a:off x="5815964" y="2423160"/>
            <a:ext cx="3002159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忠实用户外圈凸起</a:t>
            </a:r>
            <a:endParaRPr/>
          </a:p>
          <a:p>
            <a:pPr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没换品牌往外凸起，换了品牌内部连线</a:t>
            </a:r>
            <a:endParaRPr/>
          </a:p>
        </p:txBody>
      </p:sp>
      <p:sp>
        <p:nvSpPr>
          <p:cNvPr id="1322174229" name="Rectangle 15"/>
          <p:cNvSpPr/>
          <p:nvPr/>
        </p:nvSpPr>
        <p:spPr bwMode="auto">
          <a:xfrm flipH="0" flipV="0">
            <a:off x="5815964" y="2423160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9769401" name="Rounded Rectangle 16"/>
          <p:cNvSpPr/>
          <p:nvPr/>
        </p:nvSpPr>
        <p:spPr bwMode="auto">
          <a:xfrm flipH="0" flipV="0">
            <a:off x="5815964" y="2971800"/>
            <a:ext cx="3002159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流失用户可视化</a:t>
            </a:r>
            <a:endParaRPr/>
          </a:p>
          <a:p>
            <a:pPr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在他牌弧对应内弦段覆盖本品牌色加深描边</a:t>
            </a:r>
            <a:endParaRPr/>
          </a:p>
        </p:txBody>
      </p:sp>
      <p:sp>
        <p:nvSpPr>
          <p:cNvPr id="256623891" name="Rectangle 17"/>
          <p:cNvSpPr/>
          <p:nvPr/>
        </p:nvSpPr>
        <p:spPr bwMode="auto">
          <a:xfrm flipH="0" flipV="0">
            <a:off x="5815964" y="2971800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849574" name="Rectangle 1"/>
          <p:cNvSpPr/>
          <p:nvPr/>
        </p:nvSpPr>
        <p:spPr bwMode="auto">
          <a:xfrm>
            <a:off x="384048" y="256032"/>
            <a:ext cx="4572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8575125" name="TextBox 2"/>
          <p:cNvSpPr txBox="1"/>
          <p:nvPr/>
        </p:nvSpPr>
        <p:spPr bwMode="auto">
          <a:xfrm>
            <a:off x="5029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rPr/>
              <a:t>Chart 1 · 品牌详情页</a:t>
            </a:r>
            <a:endParaRPr/>
          </a:p>
        </p:txBody>
      </p:sp>
      <p:sp>
        <p:nvSpPr>
          <p:cNvPr id="1951282434" name="Rectangle 3"/>
          <p:cNvSpPr/>
          <p:nvPr/>
        </p:nvSpPr>
        <p:spPr bwMode="auto">
          <a:xfrm>
            <a:off x="5029200" y="274320"/>
            <a:ext cx="10972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1A1A2E"/>
                </a:solidFill>
                <a:latin typeface="Arial"/>
              </a:defRPr>
            </a:pPr>
            <a:r>
              <a:rPr/>
              <a:t>深度交互</a:t>
            </a:r>
            <a:endParaRPr/>
          </a:p>
        </p:txBody>
      </p:sp>
      <p:pic>
        <p:nvPicPr>
          <p:cNvPr id="1021235962" name="Picture 4" descr="brand_detai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0755" y="777240"/>
            <a:ext cx="2870489" cy="2926080"/>
          </a:xfrm>
          <a:prstGeom prst="rect">
            <a:avLst/>
          </a:prstGeom>
        </p:spPr>
      </p:pic>
      <p:sp>
        <p:nvSpPr>
          <p:cNvPr id="1218763005" name="TextBox 5"/>
          <p:cNvSpPr txBox="1"/>
          <p:nvPr/>
        </p:nvSpPr>
        <p:spPr bwMode="auto">
          <a:xfrm>
            <a:off x="457200" y="374903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A8A"/>
                </a:solidFill>
                <a:latin typeface="Arial"/>
              </a:defRPr>
            </a:pPr>
            <a:r>
              <a:rPr/>
              <a:t>点击品牌进入详情 — 整个 SVG 替换为详情视图</a:t>
            </a:r>
            <a:endParaRPr/>
          </a:p>
        </p:txBody>
      </p:sp>
      <p:sp>
        <p:nvSpPr>
          <p:cNvPr id="1995655491" name="TextBox 6"/>
          <p:cNvSpPr txBox="1"/>
          <p:nvPr/>
        </p:nvSpPr>
        <p:spPr bwMode="auto">
          <a:xfrm>
            <a:off x="4572000" y="777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rPr/>
              <a:t>详情页功能</a:t>
            </a:r>
            <a:endParaRPr/>
          </a:p>
        </p:txBody>
      </p:sp>
      <p:sp>
        <p:nvSpPr>
          <p:cNvPr id="406258970" name="Rounded Rectangle 7"/>
          <p:cNvSpPr/>
          <p:nvPr/>
        </p:nvSpPr>
        <p:spPr bwMode="auto">
          <a:xfrm>
            <a:off x="4572000" y="1188720"/>
            <a:ext cx="4023360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点击进入详情</a:t>
            </a:r>
            <a:endParaRPr/>
          </a:p>
          <a:p>
            <a:pPr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整个 SVG 替换为该品牌的详情视图</a:t>
            </a:r>
            <a:endParaRPr/>
          </a:p>
        </p:txBody>
      </p:sp>
      <p:sp>
        <p:nvSpPr>
          <p:cNvPr id="338982801" name="Rectangle 8"/>
          <p:cNvSpPr/>
          <p:nvPr/>
        </p:nvSpPr>
        <p:spPr bwMode="auto">
          <a:xfrm>
            <a:off x="4572000" y="1188720"/>
            <a:ext cx="36576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4955425" name="Rounded Rectangle 9"/>
          <p:cNvSpPr/>
          <p:nvPr/>
        </p:nvSpPr>
        <p:spPr bwMode="auto">
          <a:xfrm>
            <a:off x="4572000" y="1691640"/>
            <a:ext cx="4023360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多维指标展示</a:t>
            </a:r>
            <a:endParaRPr/>
          </a:p>
          <a:p>
            <a:pPr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总人数、忠诚用户、他牌切换而来、流走用户</a:t>
            </a:r>
            <a:endParaRPr/>
          </a:p>
        </p:txBody>
      </p:sp>
      <p:sp>
        <p:nvSpPr>
          <p:cNvPr id="1985761888" name="Rectangle 10"/>
          <p:cNvSpPr/>
          <p:nvPr/>
        </p:nvSpPr>
        <p:spPr bwMode="auto">
          <a:xfrm>
            <a:off x="4572000" y="1691640"/>
            <a:ext cx="36576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8436541" name="Rounded Rectangle 11"/>
          <p:cNvSpPr/>
          <p:nvPr/>
        </p:nvSpPr>
        <p:spPr bwMode="auto">
          <a:xfrm>
            <a:off x="4572000" y="2194560"/>
            <a:ext cx="4023360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颜色高亮区分</a:t>
            </a:r>
            <a:endParaRPr/>
          </a:p>
          <a:p>
            <a:pPr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不同指标使用不同颜色编码</a:t>
            </a:r>
            <a:endParaRPr/>
          </a:p>
        </p:txBody>
      </p:sp>
      <p:sp>
        <p:nvSpPr>
          <p:cNvPr id="1082262958" name="Rectangle 12"/>
          <p:cNvSpPr/>
          <p:nvPr/>
        </p:nvSpPr>
        <p:spPr bwMode="auto">
          <a:xfrm>
            <a:off x="4572000" y="2194560"/>
            <a:ext cx="36576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28383" name="Rectangle 13"/>
          <p:cNvSpPr/>
          <p:nvPr/>
        </p:nvSpPr>
        <p:spPr bwMode="auto">
          <a:xfrm>
            <a:off x="4572000" y="2788920"/>
            <a:ext cx="4023360" cy="59436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0704374" name="Rectangle 14"/>
          <p:cNvSpPr/>
          <p:nvPr/>
        </p:nvSpPr>
        <p:spPr bwMode="auto">
          <a:xfrm>
            <a:off x="4572000" y="2788920"/>
            <a:ext cx="36576" cy="594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2314902" name="TextBox 15"/>
          <p:cNvSpPr txBox="1"/>
          <p:nvPr/>
        </p:nvSpPr>
        <p:spPr bwMode="auto">
          <a:xfrm>
            <a:off x="4709160" y="2807208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  <a:latin typeface="Arial"/>
              </a:defRPr>
            </a:pPr>
            <a:r>
              <a:rPr/>
              <a:t>Stevens 幂律 (Stevens' Power Law)</a:t>
            </a:r>
            <a:endParaRPr/>
          </a:p>
        </p:txBody>
      </p:sp>
      <p:sp>
        <p:nvSpPr>
          <p:cNvPr id="900561509" name="TextBox 16"/>
          <p:cNvSpPr txBox="1"/>
          <p:nvPr/>
        </p:nvSpPr>
        <p:spPr bwMode="auto">
          <a:xfrm>
            <a:off x="4709160" y="299008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0D0E0"/>
                </a:solidFill>
                <a:latin typeface="Arial"/>
              </a:defRPr>
            </a:pPr>
            <a:r>
              <a:rPr/>
              <a:t>感知强度 = k × 物理强度^β。面积 β≈0.7、长度 β≈1.0。详情页用柱状图（长度编码）替代弧段面积。</a:t>
            </a:r>
            <a:endParaRPr/>
          </a:p>
        </p:txBody>
      </p:sp>
      <p:sp>
        <p:nvSpPr>
          <p:cNvPr id="2080455740" name="Rectangle 17"/>
          <p:cNvSpPr/>
          <p:nvPr/>
        </p:nvSpPr>
        <p:spPr bwMode="auto">
          <a:xfrm>
            <a:off x="4572000" y="3520440"/>
            <a:ext cx="1188720" cy="777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rPr/>
              <a:t>5</a:t>
            </a:r>
            <a:endParaRPr/>
          </a:p>
          <a:p>
            <a:pPr algn="ctr">
              <a:defRPr sz="900">
                <a:solidFill>
                  <a:srgbClr val="A0A0B8"/>
                </a:solidFill>
              </a:defRPr>
            </a:pPr>
            <a:r>
              <a:rPr/>
              <a:t>交互层次</a:t>
            </a:r>
            <a:endParaRPr/>
          </a:p>
        </p:txBody>
      </p:sp>
      <p:sp>
        <p:nvSpPr>
          <p:cNvPr id="1355079242" name="Rectangle 18"/>
          <p:cNvSpPr/>
          <p:nvPr/>
        </p:nvSpPr>
        <p:spPr bwMode="auto">
          <a:xfrm>
            <a:off x="5943600" y="3520440"/>
            <a:ext cx="1188720" cy="777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rPr/>
              <a:t>3</a:t>
            </a:r>
            <a:endParaRPr/>
          </a:p>
          <a:p>
            <a:pPr algn="ctr">
              <a:defRPr sz="900">
                <a:solidFill>
                  <a:srgbClr val="A0A0B8"/>
                </a:solidFill>
              </a:defRPr>
            </a:pPr>
            <a:r>
              <a:rPr/>
              <a:t>视觉编码维度</a:t>
            </a:r>
            <a:endParaRPr/>
          </a:p>
        </p:txBody>
      </p:sp>
      <p:sp>
        <p:nvSpPr>
          <p:cNvPr id="1341694173" name="Rectangle 19"/>
          <p:cNvSpPr/>
          <p:nvPr/>
        </p:nvSpPr>
        <p:spPr bwMode="auto">
          <a:xfrm>
            <a:off x="7315200" y="3520440"/>
            <a:ext cx="1188720" cy="777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rPr/>
              <a:t>7</a:t>
            </a:r>
            <a:endParaRPr/>
          </a:p>
          <a:p>
            <a:pPr algn="ctr">
              <a:defRPr sz="900">
                <a:solidFill>
                  <a:srgbClr val="A0A0B8"/>
                </a:solidFill>
              </a:defRPr>
            </a:pPr>
            <a:r>
              <a:rPr/>
              <a:t>品牌色盲安全色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666377" name="Rectangle 1"/>
          <p:cNvSpPr/>
          <p:nvPr/>
        </p:nvSpPr>
        <p:spPr bwMode="auto">
          <a:xfrm>
            <a:off x="384048" y="256032"/>
            <a:ext cx="4572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6976108" name="TextBox 2"/>
          <p:cNvSpPr txBox="1"/>
          <p:nvPr/>
        </p:nvSpPr>
        <p:spPr bwMode="auto">
          <a:xfrm flipH="0" flipV="0">
            <a:off x="502920" y="228599"/>
            <a:ext cx="5247514" cy="436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rPr/>
              <a:t>Chart 2 · 旭日图 Zoomable Sunburst</a:t>
            </a:r>
            <a:endParaRPr/>
          </a:p>
        </p:txBody>
      </p:sp>
      <p:sp>
        <p:nvSpPr>
          <p:cNvPr id="500380079" name="Rectangle 3"/>
          <p:cNvSpPr/>
          <p:nvPr/>
        </p:nvSpPr>
        <p:spPr bwMode="auto">
          <a:xfrm>
            <a:off x="6597074" y="448056"/>
            <a:ext cx="10972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1A1A2E"/>
                </a:solidFill>
                <a:latin typeface="Arial"/>
              </a:defRPr>
            </a:pPr>
            <a:r>
              <a:rPr/>
              <a:t>原图分析</a:t>
            </a:r>
            <a:endParaRPr/>
          </a:p>
        </p:txBody>
      </p:sp>
      <p:pic>
        <p:nvPicPr>
          <p:cNvPr id="439108547" name="Picture 4" descr="chart2-origi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06907" y="777239"/>
            <a:ext cx="1655270" cy="1584010"/>
          </a:xfrm>
          <a:prstGeom prst="rect">
            <a:avLst/>
          </a:prstGeom>
        </p:spPr>
      </p:pic>
      <p:sp>
        <p:nvSpPr>
          <p:cNvPr id="150503578" name="TextBox 5"/>
          <p:cNvSpPr txBox="1"/>
          <p:nvPr/>
        </p:nvSpPr>
        <p:spPr bwMode="auto">
          <a:xfrm flipH="0" flipV="0">
            <a:off x="457200" y="2395727"/>
            <a:ext cx="1605698" cy="217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原始旭日图 — 彩虹色阶</a:t>
            </a:r>
            <a:endParaRPr/>
          </a:p>
        </p:txBody>
      </p:sp>
      <p:pic>
        <p:nvPicPr>
          <p:cNvPr id="225367079" name="Picture 6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024300" y="781428"/>
            <a:ext cx="1998117" cy="1614299"/>
          </a:xfrm>
          <a:prstGeom prst="rect">
            <a:avLst/>
          </a:prstGeom>
        </p:spPr>
      </p:pic>
      <p:sp>
        <p:nvSpPr>
          <p:cNvPr id="932345417" name="TextBox 7"/>
          <p:cNvSpPr txBox="1"/>
          <p:nvPr/>
        </p:nvSpPr>
        <p:spPr bwMode="auto">
          <a:xfrm>
            <a:off x="2926080" y="239572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红色盲 — 丧失颜色分组信息</a:t>
            </a:r>
            <a:endParaRPr/>
          </a:p>
        </p:txBody>
      </p:sp>
      <p:pic>
        <p:nvPicPr>
          <p:cNvPr id="2103284156" name="Picture 8" descr="image-5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65759" y="2819981"/>
            <a:ext cx="2002579" cy="1889177"/>
          </a:xfrm>
          <a:prstGeom prst="rect">
            <a:avLst/>
          </a:prstGeom>
        </p:spPr>
      </p:pic>
      <p:sp>
        <p:nvSpPr>
          <p:cNvPr id="632222944" name="TextBox 9"/>
          <p:cNvSpPr txBox="1"/>
          <p:nvPr/>
        </p:nvSpPr>
        <p:spPr bwMode="auto">
          <a:xfrm flipH="0" flipV="0">
            <a:off x="502920" y="2633471"/>
            <a:ext cx="1757282" cy="21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深钻后兄弟节点不可区分</a:t>
            </a:r>
            <a:endParaRPr/>
          </a:p>
        </p:txBody>
      </p:sp>
      <p:pic>
        <p:nvPicPr>
          <p:cNvPr id="2123762557" name="Picture 10" descr="image-2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2994584" y="2816351"/>
            <a:ext cx="2419623" cy="1892808"/>
          </a:xfrm>
          <a:prstGeom prst="rect">
            <a:avLst/>
          </a:prstGeom>
        </p:spPr>
      </p:pic>
      <p:sp>
        <p:nvSpPr>
          <p:cNvPr id="283505657" name="TextBox 11"/>
          <p:cNvSpPr txBox="1"/>
          <p:nvPr/>
        </p:nvSpPr>
        <p:spPr bwMode="auto">
          <a:xfrm>
            <a:off x="3029147" y="2633471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原始 hover — 仅原生 title</a:t>
            </a:r>
            <a:endParaRPr/>
          </a:p>
        </p:txBody>
      </p:sp>
      <p:sp>
        <p:nvSpPr>
          <p:cNvPr id="1383890619" name="Rounded Rectangle 12"/>
          <p:cNvSpPr/>
          <p:nvPr/>
        </p:nvSpPr>
        <p:spPr bwMode="auto">
          <a:xfrm flipH="0" flipV="0">
            <a:off x="5696069" y="822960"/>
            <a:ext cx="2899289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1  彩虹色阶色盲灾难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鲜艳颜色对色盲用户几乎不传递信息</a:t>
            </a:r>
            <a:endParaRPr/>
          </a:p>
        </p:txBody>
      </p:sp>
      <p:sp>
        <p:nvSpPr>
          <p:cNvPr id="1461708842" name="Rectangle 13"/>
          <p:cNvSpPr/>
          <p:nvPr/>
        </p:nvSpPr>
        <p:spPr bwMode="auto">
          <a:xfrm flipH="0" flipV="0">
            <a:off x="5696069" y="822960"/>
            <a:ext cx="47503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1929826" name="Rounded Rectangle 14"/>
          <p:cNvSpPr/>
          <p:nvPr/>
        </p:nvSpPr>
        <p:spPr bwMode="auto">
          <a:xfrm flipH="0" flipV="0">
            <a:off x="5696069" y="1298448"/>
            <a:ext cx="2899289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2  深钻后颜色退化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同层兄弟节点保留原始微小变体，放大后无法区分</a:t>
            </a:r>
            <a:endParaRPr/>
          </a:p>
        </p:txBody>
      </p:sp>
      <p:sp>
        <p:nvSpPr>
          <p:cNvPr id="1069025192" name="Rectangle 15"/>
          <p:cNvSpPr/>
          <p:nvPr/>
        </p:nvSpPr>
        <p:spPr bwMode="auto">
          <a:xfrm flipH="0" flipV="0">
            <a:off x="5696069" y="1298448"/>
            <a:ext cx="47503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9488807" name="Rounded Rectangle 16"/>
          <p:cNvSpPr/>
          <p:nvPr/>
        </p:nvSpPr>
        <p:spPr bwMode="auto">
          <a:xfrm flipH="0" flipV="0">
            <a:off x="5696069" y="1773936"/>
            <a:ext cx="2899289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3  面积感知陷阱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Stevens 幂律 β≈0.7：2 倍大扇区感知只大 1.62 倍</a:t>
            </a:r>
            <a:endParaRPr/>
          </a:p>
        </p:txBody>
      </p:sp>
      <p:sp>
        <p:nvSpPr>
          <p:cNvPr id="2092990807" name="Rectangle 17"/>
          <p:cNvSpPr/>
          <p:nvPr/>
        </p:nvSpPr>
        <p:spPr bwMode="auto">
          <a:xfrm flipH="0" flipV="0">
            <a:off x="5696069" y="1773936"/>
            <a:ext cx="47503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1524542" name="Rounded Rectangle 18"/>
          <p:cNvSpPr/>
          <p:nvPr/>
        </p:nvSpPr>
        <p:spPr bwMode="auto">
          <a:xfrm flipH="0" flipV="0">
            <a:off x="5696069" y="2249423"/>
            <a:ext cx="2899289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4  无全局定位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钻取到深层后非聚焦节点消失</a:t>
            </a:r>
            <a:endParaRPr/>
          </a:p>
        </p:txBody>
      </p:sp>
      <p:sp>
        <p:nvSpPr>
          <p:cNvPr id="691170940" name="Rectangle 19"/>
          <p:cNvSpPr/>
          <p:nvPr/>
        </p:nvSpPr>
        <p:spPr bwMode="auto">
          <a:xfrm flipH="0" flipV="0">
            <a:off x="5696069" y="2249423"/>
            <a:ext cx="47503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0854709" name="Rounded Rectangle 20"/>
          <p:cNvSpPr/>
          <p:nvPr/>
        </p:nvSpPr>
        <p:spPr bwMode="auto">
          <a:xfrm flipH="0" flipV="0">
            <a:off x="5696069" y="2724911"/>
            <a:ext cx="2899289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5  信息空间浪费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中心圆仅作返回热区，hover 只有原生 title</a:t>
            </a:r>
            <a:endParaRPr/>
          </a:p>
        </p:txBody>
      </p:sp>
      <p:sp>
        <p:nvSpPr>
          <p:cNvPr id="1218914502" name="Rectangle 21"/>
          <p:cNvSpPr/>
          <p:nvPr/>
        </p:nvSpPr>
        <p:spPr bwMode="auto">
          <a:xfrm flipH="0" flipV="0">
            <a:off x="5696069" y="2724911"/>
            <a:ext cx="47503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8918023" name="TextBox 22"/>
          <p:cNvSpPr txBox="1"/>
          <p:nvPr/>
        </p:nvSpPr>
        <p:spPr bwMode="auto">
          <a:xfrm>
            <a:off x="365760" y="47091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800">
                <a:solidFill>
                  <a:srgbClr val="5A6A8A"/>
                </a:solidFill>
                <a:latin typeface="Arial"/>
              </a:rPr>
              <a:t>原图来源：</a:t>
            </a:r>
            <a:r>
              <a:rPr sz="800" u="sng">
                <a:solidFill>
                  <a:srgbClr val="00D4FF"/>
                </a:solidFill>
                <a:latin typeface="Arial"/>
                <a:hlinkClick r:id="rId7" tooltip=""/>
              </a:rPr>
              <a:t>https://observablehq.com/@d3/zoomable-sunburst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029531" name="Rectangle 1"/>
          <p:cNvSpPr/>
          <p:nvPr/>
        </p:nvSpPr>
        <p:spPr bwMode="auto">
          <a:xfrm>
            <a:off x="384048" y="256032"/>
            <a:ext cx="4572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9674104" name="TextBox 2"/>
          <p:cNvSpPr txBox="1"/>
          <p:nvPr/>
        </p:nvSpPr>
        <p:spPr bwMode="auto">
          <a:xfrm>
            <a:off x="5029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rPr/>
              <a:t>Chart 2 · 旭日图改进（上）</a:t>
            </a:r>
            <a:endParaRPr/>
          </a:p>
        </p:txBody>
      </p:sp>
      <p:sp>
        <p:nvSpPr>
          <p:cNvPr id="1446400080" name="Rectangle 3"/>
          <p:cNvSpPr/>
          <p:nvPr/>
        </p:nvSpPr>
        <p:spPr bwMode="auto">
          <a:xfrm>
            <a:off x="6403325" y="402336"/>
            <a:ext cx="10972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1A1A2E"/>
                </a:solidFill>
                <a:latin typeface="Arial"/>
              </a:defRPr>
            </a:pPr>
            <a:r>
              <a:rPr/>
              <a:t>重新着色</a:t>
            </a:r>
            <a:endParaRPr/>
          </a:p>
        </p:txBody>
      </p:sp>
      <p:pic>
        <p:nvPicPr>
          <p:cNvPr id="695443813" name="Picture 4" descr="image-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4048" y="713232"/>
            <a:ext cx="2340630" cy="2212848"/>
          </a:xfrm>
          <a:prstGeom prst="rect">
            <a:avLst/>
          </a:prstGeom>
        </p:spPr>
      </p:pic>
      <p:sp>
        <p:nvSpPr>
          <p:cNvPr id="884024792" name="TextBox 5"/>
          <p:cNvSpPr txBox="1"/>
          <p:nvPr/>
        </p:nvSpPr>
        <p:spPr bwMode="auto">
          <a:xfrm>
            <a:off x="411363" y="299923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色盲用户 — 色相区分度显著提升</a:t>
            </a:r>
            <a:endParaRPr/>
          </a:p>
        </p:txBody>
      </p:sp>
      <p:pic>
        <p:nvPicPr>
          <p:cNvPr id="982665713" name="Picture 6" descr="image-9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724678" y="2489497"/>
            <a:ext cx="2216074" cy="2086583"/>
          </a:xfrm>
          <a:prstGeom prst="rect">
            <a:avLst/>
          </a:prstGeom>
        </p:spPr>
      </p:pic>
      <p:sp>
        <p:nvSpPr>
          <p:cNvPr id="1341191391" name="TextBox 7"/>
          <p:cNvSpPr txBox="1"/>
          <p:nvPr/>
        </p:nvSpPr>
        <p:spPr bwMode="auto">
          <a:xfrm>
            <a:off x="2654753" y="22860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深钻后同级兄弟始终有足够色相区分</a:t>
            </a:r>
            <a:endParaRPr/>
          </a:p>
        </p:txBody>
      </p:sp>
      <p:sp>
        <p:nvSpPr>
          <p:cNvPr id="816561965" name="Rounded Rectangle 8"/>
          <p:cNvSpPr/>
          <p:nvPr/>
        </p:nvSpPr>
        <p:spPr bwMode="auto">
          <a:xfrm flipH="0" flipV="0">
            <a:off x="5262698" y="804672"/>
            <a:ext cx="3378533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Tableau10 调色板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色相间距更大，对色盲更友好</a:t>
            </a:r>
            <a:endParaRPr/>
          </a:p>
        </p:txBody>
      </p:sp>
      <p:sp>
        <p:nvSpPr>
          <p:cNvPr id="983802510" name="Rectangle 9"/>
          <p:cNvSpPr/>
          <p:nvPr/>
        </p:nvSpPr>
        <p:spPr bwMode="auto">
          <a:xfrm flipH="0" flipV="0">
            <a:off x="5262698" y="804672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7274027" name="Rounded Rectangle 10"/>
          <p:cNvSpPr/>
          <p:nvPr/>
        </p:nvSpPr>
        <p:spPr bwMode="auto">
          <a:xfrm flipH="0" flipV="0">
            <a:off x="5262698" y="1353312"/>
            <a:ext cx="3378533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动态重新着色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每次钻取以当前聚焦节点的直接子节点为单元重新分配色相</a:t>
            </a:r>
            <a:endParaRPr/>
          </a:p>
        </p:txBody>
      </p:sp>
      <p:sp>
        <p:nvSpPr>
          <p:cNvPr id="197459846" name="Rectangle 11"/>
          <p:cNvSpPr/>
          <p:nvPr/>
        </p:nvSpPr>
        <p:spPr bwMode="auto">
          <a:xfrm flipH="0" flipV="0">
            <a:off x="5262698" y="1353312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1895924" name="Rounded Rectangle 12"/>
          <p:cNvSpPr/>
          <p:nvPr/>
        </p:nvSpPr>
        <p:spPr bwMode="auto">
          <a:xfrm flipH="0" flipV="0">
            <a:off x="5262698" y="1901952"/>
            <a:ext cx="3378533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深度无关区分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无论钻到多深，同级兄弟之间始终有足够色相区分</a:t>
            </a:r>
            <a:endParaRPr/>
          </a:p>
        </p:txBody>
      </p:sp>
      <p:sp>
        <p:nvSpPr>
          <p:cNvPr id="131354217" name="Rectangle 13"/>
          <p:cNvSpPr/>
          <p:nvPr/>
        </p:nvSpPr>
        <p:spPr bwMode="auto">
          <a:xfrm flipH="0" flipV="0">
            <a:off x="5262698" y="1901952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1874037" name="Rounded Rectangle 14"/>
          <p:cNvSpPr/>
          <p:nvPr/>
        </p:nvSpPr>
        <p:spPr bwMode="auto">
          <a:xfrm flipH="0" flipV="0">
            <a:off x="5262698" y="2450592"/>
            <a:ext cx="3378533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弧段文字白色描边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文字在任何颜色的弧段背景上都保持清晰可读</a:t>
            </a:r>
            <a:endParaRPr/>
          </a:p>
        </p:txBody>
      </p:sp>
      <p:sp>
        <p:nvSpPr>
          <p:cNvPr id="229841264" name="Rectangle 15"/>
          <p:cNvSpPr/>
          <p:nvPr/>
        </p:nvSpPr>
        <p:spPr bwMode="auto">
          <a:xfrm flipH="0" flipV="0">
            <a:off x="5262698" y="2450592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5816673" name="Rounded Rectangle 16"/>
          <p:cNvSpPr/>
          <p:nvPr/>
        </p:nvSpPr>
        <p:spPr bwMode="auto">
          <a:xfrm flipH="0" flipV="0">
            <a:off x="5262698" y="2999232"/>
            <a:ext cx="3378533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自定义 Tooltip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节点路径、数值、父级占比、整体占比、子项数量</a:t>
            </a:r>
            <a:endParaRPr/>
          </a:p>
        </p:txBody>
      </p:sp>
      <p:sp>
        <p:nvSpPr>
          <p:cNvPr id="1420947352" name="Rectangle 17"/>
          <p:cNvSpPr/>
          <p:nvPr/>
        </p:nvSpPr>
        <p:spPr bwMode="auto">
          <a:xfrm flipH="0" flipV="0">
            <a:off x="5262698" y="2999232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218892" name="Rectangle 1"/>
          <p:cNvSpPr/>
          <p:nvPr/>
        </p:nvSpPr>
        <p:spPr bwMode="auto">
          <a:xfrm>
            <a:off x="384048" y="256032"/>
            <a:ext cx="4572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1112145" name="TextBox 2"/>
          <p:cNvSpPr txBox="1"/>
          <p:nvPr/>
        </p:nvSpPr>
        <p:spPr bwMode="auto">
          <a:xfrm>
            <a:off x="5029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rPr/>
              <a:t>Chart 2 · 旭日图改进（下）</a:t>
            </a:r>
            <a:endParaRPr/>
          </a:p>
        </p:txBody>
      </p:sp>
      <p:sp>
        <p:nvSpPr>
          <p:cNvPr id="2042009371" name="Rectangle 3"/>
          <p:cNvSpPr/>
          <p:nvPr/>
        </p:nvSpPr>
        <p:spPr bwMode="auto">
          <a:xfrm>
            <a:off x="6682768" y="338328"/>
            <a:ext cx="10972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1A1A2E"/>
                </a:solidFill>
                <a:latin typeface="Arial"/>
              </a:defRPr>
            </a:pPr>
            <a:r>
              <a:rPr/>
              <a:t>联动 · 导航 · 中心区</a:t>
            </a:r>
            <a:endParaRPr/>
          </a:p>
        </p:txBody>
      </p:sp>
      <p:pic>
        <p:nvPicPr>
          <p:cNvPr id="1182419268" name="Picture 4" descr="image-8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4048" y="1459787"/>
            <a:ext cx="1858029" cy="1531620"/>
          </a:xfrm>
          <a:prstGeom prst="rect">
            <a:avLst/>
          </a:prstGeom>
        </p:spPr>
      </p:pic>
      <p:sp>
        <p:nvSpPr>
          <p:cNvPr id="1995939573" name="TextBox 5"/>
          <p:cNvSpPr txBox="1"/>
          <p:nvPr/>
        </p:nvSpPr>
        <p:spPr bwMode="auto">
          <a:xfrm flipH="0" flipV="0">
            <a:off x="502920" y="2991407"/>
            <a:ext cx="1597262" cy="217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左侧表格 + 条形图 + 精确数值</a:t>
            </a:r>
            <a:endParaRPr/>
          </a:p>
        </p:txBody>
      </p:sp>
      <p:pic>
        <p:nvPicPr>
          <p:cNvPr id="486593488" name="Picture 6" descr="image-7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84048" y="741983"/>
            <a:ext cx="4871375" cy="502919"/>
          </a:xfrm>
          <a:prstGeom prst="rect">
            <a:avLst/>
          </a:prstGeom>
        </p:spPr>
      </p:pic>
      <p:sp>
        <p:nvSpPr>
          <p:cNvPr id="1259640359" name="TextBox 7"/>
          <p:cNvSpPr txBox="1"/>
          <p:nvPr/>
        </p:nvSpPr>
        <p:spPr bwMode="auto">
          <a:xfrm>
            <a:off x="1722455" y="1244903"/>
            <a:ext cx="2231999" cy="221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图例、当前位置指引、色盲支持</a:t>
            </a:r>
            <a:endParaRPr/>
          </a:p>
        </p:txBody>
      </p:sp>
      <p:pic>
        <p:nvPicPr>
          <p:cNvPr id="122951845" name="Picture 8" descr="image-6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377945" y="1466302"/>
            <a:ext cx="1576509" cy="1531650"/>
          </a:xfrm>
          <a:prstGeom prst="rect">
            <a:avLst/>
          </a:prstGeom>
        </p:spPr>
      </p:pic>
      <p:sp>
        <p:nvSpPr>
          <p:cNvPr id="1315346539" name="TextBox 9"/>
          <p:cNvSpPr txBox="1"/>
          <p:nvPr/>
        </p:nvSpPr>
        <p:spPr bwMode="auto">
          <a:xfrm flipH="0" flipV="0">
            <a:off x="2408042" y="3011962"/>
            <a:ext cx="1517035" cy="217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中心显示名称/总数值/百分比</a:t>
            </a:r>
            <a:endParaRPr/>
          </a:p>
        </p:txBody>
      </p:sp>
      <p:pic>
        <p:nvPicPr>
          <p:cNvPr id="684250003" name="Picture 10" descr="image-3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384048" y="3150580"/>
            <a:ext cx="2148718" cy="1372345"/>
          </a:xfrm>
          <a:prstGeom prst="rect">
            <a:avLst/>
          </a:prstGeom>
        </p:spPr>
      </p:pic>
      <p:sp>
        <p:nvSpPr>
          <p:cNvPr id="1390327200" name="TextBox 11"/>
          <p:cNvSpPr txBox="1"/>
          <p:nvPr/>
        </p:nvSpPr>
        <p:spPr bwMode="auto">
          <a:xfrm flipH="0" flipV="0">
            <a:off x="2532766" y="3725194"/>
            <a:ext cx="1098000" cy="217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自定义 Tooltip 效果</a:t>
            </a:r>
            <a:endParaRPr/>
          </a:p>
        </p:txBody>
      </p:sp>
      <p:sp>
        <p:nvSpPr>
          <p:cNvPr id="1939877128" name="Rounded Rectangle 12"/>
          <p:cNvSpPr/>
          <p:nvPr/>
        </p:nvSpPr>
        <p:spPr bwMode="auto">
          <a:xfrm flipH="0" flipV="0">
            <a:off x="5653888" y="741983"/>
            <a:ext cx="3155039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文件管理器风格表格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每个子项一行带彩色条形图，旁边标注精确数值和百分比</a:t>
            </a:r>
            <a:endParaRPr/>
          </a:p>
        </p:txBody>
      </p:sp>
      <p:sp>
        <p:nvSpPr>
          <p:cNvPr id="1315029302" name="Rectangle 13"/>
          <p:cNvSpPr/>
          <p:nvPr/>
        </p:nvSpPr>
        <p:spPr bwMode="auto">
          <a:xfrm flipH="0" flipV="0">
            <a:off x="5653888" y="741983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2109742" name="Rounded Rectangle 14"/>
          <p:cNvSpPr/>
          <p:nvPr/>
        </p:nvSpPr>
        <p:spPr bwMode="auto">
          <a:xfrm flipH="0" flipV="0">
            <a:off x="5653888" y="1244903"/>
            <a:ext cx="3155039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表格与图表联动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表格行与右侧图表联动，点击也可触发钻取</a:t>
            </a:r>
            <a:endParaRPr/>
          </a:p>
        </p:txBody>
      </p:sp>
      <p:sp>
        <p:nvSpPr>
          <p:cNvPr id="1985102064" name="Rectangle 15"/>
          <p:cNvSpPr/>
          <p:nvPr/>
        </p:nvSpPr>
        <p:spPr bwMode="auto">
          <a:xfrm flipH="0" flipV="0">
            <a:off x="5653888" y="1244903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4056241" name="Rounded Rectangle 16"/>
          <p:cNvSpPr/>
          <p:nvPr/>
        </p:nvSpPr>
        <p:spPr bwMode="auto">
          <a:xfrm flipH="0" flipV="0">
            <a:off x="5653888" y="1747823"/>
            <a:ext cx="3155039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面包屑导航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顶部显示当前完整路径，每个节点可点击跳转</a:t>
            </a:r>
            <a:endParaRPr/>
          </a:p>
        </p:txBody>
      </p:sp>
      <p:sp>
        <p:nvSpPr>
          <p:cNvPr id="1207583982" name="Rectangle 17"/>
          <p:cNvSpPr/>
          <p:nvPr/>
        </p:nvSpPr>
        <p:spPr bwMode="auto">
          <a:xfrm flipH="0" flipV="0">
            <a:off x="5653888" y="1747823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9911617" name="Rounded Rectangle 18"/>
          <p:cNvSpPr/>
          <p:nvPr/>
        </p:nvSpPr>
        <p:spPr bwMode="auto">
          <a:xfrm flipH="0" flipV="0">
            <a:off x="5653888" y="2250743"/>
            <a:ext cx="3155039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中心信息区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显示当前节点名称、总数值、占整体百分比</a:t>
            </a:r>
            <a:endParaRPr/>
          </a:p>
        </p:txBody>
      </p:sp>
      <p:sp>
        <p:nvSpPr>
          <p:cNvPr id="790138634" name="Rectangle 19"/>
          <p:cNvSpPr/>
          <p:nvPr/>
        </p:nvSpPr>
        <p:spPr bwMode="auto">
          <a:xfrm flipH="0" flipV="0">
            <a:off x="5653888" y="2250743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2778456" name="Rounded Rectangle 20"/>
          <p:cNvSpPr/>
          <p:nvPr/>
        </p:nvSpPr>
        <p:spPr bwMode="auto">
          <a:xfrm flipH="0" flipV="0">
            <a:off x="5653888" y="2753663"/>
            <a:ext cx="3155039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富文本 Tooltip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节点路径、数值、父级占比、整体占比、子项数量</a:t>
            </a:r>
            <a:endParaRPr/>
          </a:p>
        </p:txBody>
      </p:sp>
      <p:sp>
        <p:nvSpPr>
          <p:cNvPr id="1217466445" name="Rectangle 21"/>
          <p:cNvSpPr/>
          <p:nvPr/>
        </p:nvSpPr>
        <p:spPr bwMode="auto">
          <a:xfrm flipH="0" flipV="0">
            <a:off x="5653888" y="2753663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2444650" name="Rectangle 22"/>
          <p:cNvSpPr/>
          <p:nvPr/>
        </p:nvSpPr>
        <p:spPr bwMode="auto">
          <a:xfrm flipH="0" flipV="0">
            <a:off x="5653888" y="3348023"/>
            <a:ext cx="3155039" cy="59436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8193292" name="Rectangle 23"/>
          <p:cNvSpPr/>
          <p:nvPr/>
        </p:nvSpPr>
        <p:spPr bwMode="auto">
          <a:xfrm flipH="0" flipV="0">
            <a:off x="5653888" y="3348023"/>
            <a:ext cx="45720" cy="594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9084253" name="TextBox 24"/>
          <p:cNvSpPr txBox="1"/>
          <p:nvPr/>
        </p:nvSpPr>
        <p:spPr bwMode="auto">
          <a:xfrm flipH="0" flipV="0">
            <a:off x="5791048" y="3366311"/>
            <a:ext cx="2893185" cy="232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FF"/>
                </a:solidFill>
                <a:latin typeface="Arial"/>
              </a:defRPr>
            </a:pPr>
            <a:r>
              <a:rPr/>
              <a:t>Cleveland &amp; McGill 编码排序</a:t>
            </a:r>
            <a:endParaRPr/>
          </a:p>
        </p:txBody>
      </p:sp>
      <p:sp>
        <p:nvSpPr>
          <p:cNvPr id="1725971027" name="TextBox 25"/>
          <p:cNvSpPr txBox="1"/>
          <p:nvPr/>
        </p:nvSpPr>
        <p:spPr bwMode="auto">
          <a:xfrm flipH="0" flipV="0">
            <a:off x="5791048" y="3549191"/>
            <a:ext cx="2893185" cy="35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0D0E0"/>
                </a:solidFill>
                <a:latin typeface="Arial"/>
              </a:defRPr>
            </a:pPr>
            <a:r>
              <a:rPr/>
              <a:t>位置 &gt; 长度 &gt; 角度 &gt; 面积。条形图用长度编码（第 2），精度远优于弧段面积（第 4）。</a:t>
            </a:r>
            <a:endParaRPr/>
          </a:p>
        </p:txBody>
      </p:sp>
      <p:sp>
        <p:nvSpPr>
          <p:cNvPr id="1967963113" name="Rectangle 26"/>
          <p:cNvSpPr/>
          <p:nvPr/>
        </p:nvSpPr>
        <p:spPr bwMode="auto">
          <a:xfrm flipH="0" flipV="0">
            <a:off x="260409" y="4572000"/>
            <a:ext cx="5530638" cy="365760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5257160" name="Rectangle 27"/>
          <p:cNvSpPr/>
          <p:nvPr/>
        </p:nvSpPr>
        <p:spPr bwMode="auto">
          <a:xfrm flipH="0" flipV="0">
            <a:off x="260409" y="4572000"/>
            <a:ext cx="45720" cy="3657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3035728" name="TextBox 28"/>
          <p:cNvSpPr txBox="1"/>
          <p:nvPr/>
        </p:nvSpPr>
        <p:spPr bwMode="auto">
          <a:xfrm flipH="0" flipV="0">
            <a:off x="306129" y="4638962"/>
            <a:ext cx="5225990" cy="23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0A0A0"/>
                </a:solidFill>
                <a:latin typeface="Arial"/>
              </a:defRPr>
            </a:pPr>
            <a:r>
              <a:rPr/>
              <a:t>剩余局限：仍完全依赖颜色编码类别，理想方案是叠加纹理或图标</a:t>
            </a:r>
            <a:r>
              <a:rPr lang="en-US" sz="900" b="0" i="0" u="none" strike="noStrike" cap="none" spc="0">
                <a:solidFill>
                  <a:srgbClr val="D0A0A0"/>
                </a:solidFill>
                <a:latin typeface="Arial"/>
                <a:ea typeface="Arial"/>
                <a:cs typeface="Arial"/>
              </a:rPr>
              <a:t>，但小面积弧段无法呈现纹理细节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88687" name="Rectangle 1"/>
          <p:cNvSpPr/>
          <p:nvPr/>
        </p:nvSpPr>
        <p:spPr bwMode="auto">
          <a:xfrm>
            <a:off x="384048" y="256032"/>
            <a:ext cx="4572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4482867" name="TextBox 2"/>
          <p:cNvSpPr txBox="1"/>
          <p:nvPr/>
        </p:nvSpPr>
        <p:spPr bwMode="auto">
          <a:xfrm>
            <a:off x="5029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rPr/>
              <a:t>Chart 3 · 地震地图 QuakeSpotter</a:t>
            </a:r>
            <a:endParaRPr/>
          </a:p>
        </p:txBody>
      </p:sp>
      <p:sp>
        <p:nvSpPr>
          <p:cNvPr id="409903806" name="Rectangle 3"/>
          <p:cNvSpPr/>
          <p:nvPr/>
        </p:nvSpPr>
        <p:spPr bwMode="auto">
          <a:xfrm>
            <a:off x="6383110" y="1322069"/>
            <a:ext cx="10972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1A1A2E"/>
                </a:solidFill>
                <a:latin typeface="Arial"/>
              </a:defRPr>
            </a:pPr>
            <a:r>
              <a:rPr/>
              <a:t>原图分析 + 改进</a:t>
            </a:r>
            <a:endParaRPr/>
          </a:p>
        </p:txBody>
      </p:sp>
      <p:pic>
        <p:nvPicPr>
          <p:cNvPr id="169001858" name="Picture 4" descr="chart3-origi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4047" y="647971"/>
            <a:ext cx="2591095" cy="2011680"/>
          </a:xfrm>
          <a:prstGeom prst="rect">
            <a:avLst/>
          </a:prstGeom>
        </p:spPr>
      </p:pic>
      <p:sp>
        <p:nvSpPr>
          <p:cNvPr id="839575094" name="TextBox 5"/>
          <p:cNvSpPr txBox="1"/>
          <p:nvPr/>
        </p:nvSpPr>
        <p:spPr bwMode="auto">
          <a:xfrm flipH="0" flipV="0">
            <a:off x="310124" y="2601777"/>
            <a:ext cx="2665018" cy="232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A8A"/>
                </a:solidFill>
                <a:latin typeface="Arial"/>
              </a:defRPr>
            </a:pPr>
            <a:r>
              <a:rPr/>
              <a:t>原始版本 — 2.0 级和 2.9 级看起来完全一样</a:t>
            </a:r>
            <a:endParaRPr/>
          </a:p>
        </p:txBody>
      </p:sp>
      <p:pic>
        <p:nvPicPr>
          <p:cNvPr id="1723224009" name="Picture 6" descr="step01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017519" y="647971"/>
            <a:ext cx="4114800" cy="419756"/>
          </a:xfrm>
          <a:prstGeom prst="rect">
            <a:avLst/>
          </a:prstGeom>
        </p:spPr>
      </p:pic>
      <p:sp>
        <p:nvSpPr>
          <p:cNvPr id="286115069" name="TextBox 7"/>
          <p:cNvSpPr txBox="1"/>
          <p:nvPr/>
        </p:nvSpPr>
        <p:spPr bwMode="auto">
          <a:xfrm>
            <a:off x="3017519" y="1067727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A8A"/>
                </a:solidFill>
                <a:latin typeface="Arial"/>
              </a:defRPr>
            </a:pPr>
            <a:r>
              <a:rPr/>
              <a:t>按震级连续着色 + 深度信息叠加</a:t>
            </a:r>
            <a:endParaRPr/>
          </a:p>
        </p:txBody>
      </p:sp>
      <p:sp>
        <p:nvSpPr>
          <p:cNvPr id="667163289" name="Rounded Rectangle 8"/>
          <p:cNvSpPr/>
          <p:nvPr/>
        </p:nvSpPr>
        <p:spPr bwMode="auto">
          <a:xfrm flipH="0" flipV="0">
            <a:off x="5474001" y="1653811"/>
            <a:ext cx="2915498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1  统一红色无区分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无法区分震级大小，环太平洋地震带密密麻麻一片红</a:t>
            </a:r>
            <a:endParaRPr/>
          </a:p>
        </p:txBody>
      </p:sp>
      <p:sp>
        <p:nvSpPr>
          <p:cNvPr id="252061139" name="Rectangle 9"/>
          <p:cNvSpPr/>
          <p:nvPr/>
        </p:nvSpPr>
        <p:spPr bwMode="auto">
          <a:xfrm flipH="0" flipV="0">
            <a:off x="5428281" y="1653811"/>
            <a:ext cx="45720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6994454" name="Rounded Rectangle 10"/>
          <p:cNvSpPr/>
          <p:nvPr/>
        </p:nvSpPr>
        <p:spPr bwMode="auto">
          <a:xfrm flipH="0" flipV="0">
            <a:off x="5474001" y="2129299"/>
            <a:ext cx="2915498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2  静态无交互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不能旋转、缩放、点击查看详情</a:t>
            </a:r>
            <a:endParaRPr/>
          </a:p>
        </p:txBody>
      </p:sp>
      <p:sp>
        <p:nvSpPr>
          <p:cNvPr id="480940158" name="Rectangle 11"/>
          <p:cNvSpPr/>
          <p:nvPr/>
        </p:nvSpPr>
        <p:spPr bwMode="auto">
          <a:xfrm flipH="0" flipV="0">
            <a:off x="5428281" y="2129299"/>
            <a:ext cx="45720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3315034" name="Rounded Rectangle 12"/>
          <p:cNvSpPr/>
          <p:nvPr/>
        </p:nvSpPr>
        <p:spPr bwMode="auto">
          <a:xfrm flipH="0" flipV="0">
            <a:off x="5474001" y="2604787"/>
            <a:ext cx="2915498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3  信息不足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"今天地震多不多？"无法快速回答</a:t>
            </a:r>
            <a:endParaRPr/>
          </a:p>
        </p:txBody>
      </p:sp>
      <p:sp>
        <p:nvSpPr>
          <p:cNvPr id="1293332533" name="Rectangle 13"/>
          <p:cNvSpPr/>
          <p:nvPr/>
        </p:nvSpPr>
        <p:spPr bwMode="auto">
          <a:xfrm flipH="0" flipV="0">
            <a:off x="5428281" y="2604787"/>
            <a:ext cx="45720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1925667" name="Rounded Rectangle 14"/>
          <p:cNvSpPr/>
          <p:nvPr/>
        </p:nvSpPr>
        <p:spPr bwMode="auto">
          <a:xfrm flipH="0" flipV="0">
            <a:off x="5474001" y="3080275"/>
            <a:ext cx="2915498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4  首次加载白屏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数据量大时无加载指示</a:t>
            </a:r>
            <a:endParaRPr/>
          </a:p>
        </p:txBody>
      </p:sp>
      <p:sp>
        <p:nvSpPr>
          <p:cNvPr id="887227227" name="Rectangle 15"/>
          <p:cNvSpPr/>
          <p:nvPr/>
        </p:nvSpPr>
        <p:spPr bwMode="auto">
          <a:xfrm flipH="0" flipV="0">
            <a:off x="5428281" y="3080275"/>
            <a:ext cx="45720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688609" name="Rectangle 16"/>
          <p:cNvSpPr/>
          <p:nvPr/>
        </p:nvSpPr>
        <p:spPr bwMode="auto">
          <a:xfrm>
            <a:off x="406907" y="3693250"/>
            <a:ext cx="822960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8305451" name="Rectangle 17"/>
          <p:cNvSpPr/>
          <p:nvPr/>
        </p:nvSpPr>
        <p:spPr bwMode="auto">
          <a:xfrm>
            <a:off x="406907" y="3693250"/>
            <a:ext cx="36576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6149813" name="TextBox 18"/>
          <p:cNvSpPr txBox="1"/>
          <p:nvPr/>
        </p:nvSpPr>
        <p:spPr bwMode="auto">
          <a:xfrm>
            <a:off x="544067" y="3711538"/>
            <a:ext cx="7863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  <a:latin typeface="Arial"/>
              </a:defRPr>
            </a:pPr>
            <a:r>
              <a:rPr/>
              <a:t>Weber-Fechner 定律：人对刺激变化的感知是对数式的，JND 与当前刺激强度成正比</a:t>
            </a:r>
            <a:endParaRPr/>
          </a:p>
        </p:txBody>
      </p:sp>
      <p:sp>
        <p:nvSpPr>
          <p:cNvPr id="1174040522" name="TextBox 19"/>
          <p:cNvSpPr txBox="1"/>
          <p:nvPr/>
        </p:nvSpPr>
        <p:spPr bwMode="auto">
          <a:xfrm>
            <a:off x="544067" y="3894418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0D0E0"/>
                </a:solidFill>
                <a:latin typeface="Arial"/>
              </a:defRPr>
            </a:pPr>
            <a:r>
              <a:rPr/>
              <a:t>震级本身是对数尺度（每增 1 级能量增 31.6 倍），线性颜色映射会压缩小震差异、拉伸大震差异 → 采用感知均匀色阶</a:t>
            </a:r>
            <a:endParaRPr/>
          </a:p>
        </p:txBody>
      </p:sp>
      <p:sp>
        <p:nvSpPr>
          <p:cNvPr id="1655524839" name="TextBox 20"/>
          <p:cNvSpPr txBox="1"/>
          <p:nvPr/>
        </p:nvSpPr>
        <p:spPr bwMode="auto">
          <a:xfrm>
            <a:off x="406908" y="476631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800">
                <a:solidFill>
                  <a:srgbClr val="5A6A8A"/>
                </a:solidFill>
                <a:latin typeface="Arial"/>
              </a:rPr>
              <a:t>原图来源：</a:t>
            </a:r>
            <a:r>
              <a:rPr sz="800" u="sng">
                <a:solidFill>
                  <a:srgbClr val="00D4FF"/>
                </a:solidFill>
                <a:latin typeface="Arial"/>
                <a:hlinkClick r:id="rId5" tooltip=""/>
              </a:rPr>
              <a:t>https://observablehq.com/@jashkenas/quakespotter-0-1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49704" name="Rectangle 1"/>
          <p:cNvSpPr/>
          <p:nvPr/>
        </p:nvSpPr>
        <p:spPr bwMode="auto">
          <a:xfrm>
            <a:off x="384048" y="256032"/>
            <a:ext cx="4572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1303410" name="TextBox 2"/>
          <p:cNvSpPr txBox="1"/>
          <p:nvPr/>
        </p:nvSpPr>
        <p:spPr bwMode="auto">
          <a:xfrm>
            <a:off x="5029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rPr/>
              <a:t>Chart 3 · 地震地图改进</a:t>
            </a:r>
            <a:endParaRPr/>
          </a:p>
        </p:txBody>
      </p:sp>
      <p:sp>
        <p:nvSpPr>
          <p:cNvPr id="222527468" name="Rectangle 3"/>
          <p:cNvSpPr/>
          <p:nvPr/>
        </p:nvSpPr>
        <p:spPr bwMode="auto">
          <a:xfrm>
            <a:off x="6537960" y="416052"/>
            <a:ext cx="10972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1A1A2E"/>
                </a:solidFill>
                <a:latin typeface="Arial"/>
              </a:defRPr>
            </a:pPr>
            <a:r>
              <a:rPr/>
              <a:t>交互 · 配色 · 主题</a:t>
            </a:r>
            <a:endParaRPr/>
          </a:p>
        </p:txBody>
      </p:sp>
      <p:pic>
        <p:nvPicPr>
          <p:cNvPr id="685563802" name="Picture 4" descr="step02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4047" y="736874"/>
            <a:ext cx="4804809" cy="1134107"/>
          </a:xfrm>
          <a:prstGeom prst="rect">
            <a:avLst/>
          </a:prstGeom>
        </p:spPr>
      </p:pic>
      <p:sp>
        <p:nvSpPr>
          <p:cNvPr id="760428822" name="TextBox 5"/>
          <p:cNvSpPr txBox="1"/>
          <p:nvPr/>
        </p:nvSpPr>
        <p:spPr bwMode="auto">
          <a:xfrm>
            <a:off x="957652" y="190195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A8A"/>
                </a:solidFill>
                <a:latin typeface="Arial"/>
              </a:defRPr>
            </a:pPr>
            <a:r>
              <a:rPr/>
              <a:t>顶部统计栏 + 悬停提示卡片</a:t>
            </a:r>
            <a:endParaRPr/>
          </a:p>
        </p:txBody>
      </p:sp>
      <p:pic>
        <p:nvPicPr>
          <p:cNvPr id="2057631778" name="Picture 6" descr="step03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84047" y="2231136"/>
            <a:ext cx="3140898" cy="1977432"/>
          </a:xfrm>
          <a:prstGeom prst="rect">
            <a:avLst/>
          </a:prstGeom>
        </p:spPr>
      </p:pic>
      <p:sp>
        <p:nvSpPr>
          <p:cNvPr id="1901968747" name="TextBox 7"/>
          <p:cNvSpPr txBox="1"/>
          <p:nvPr/>
        </p:nvSpPr>
        <p:spPr bwMode="auto">
          <a:xfrm flipH="0" flipV="0">
            <a:off x="384047" y="4251959"/>
            <a:ext cx="3141978" cy="232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A8A"/>
                </a:solidFill>
                <a:latin typeface="Arial"/>
              </a:defRPr>
            </a:pPr>
            <a:r>
              <a:rPr/>
              <a:t>半透明描边 + 信息卡片 + 安全色板</a:t>
            </a:r>
            <a:endParaRPr/>
          </a:p>
        </p:txBody>
      </p:sp>
      <p:sp>
        <p:nvSpPr>
          <p:cNvPr id="1145021821" name="Rounded Rectangle 8"/>
          <p:cNvSpPr/>
          <p:nvPr/>
        </p:nvSpPr>
        <p:spPr bwMode="auto">
          <a:xfrm flipH="0" flipV="0">
            <a:off x="5498025" y="749808"/>
            <a:ext cx="3177147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震级连续着色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小震温和色，大震警示色，颜色连续变化</a:t>
            </a:r>
            <a:endParaRPr/>
          </a:p>
        </p:txBody>
      </p:sp>
      <p:sp>
        <p:nvSpPr>
          <p:cNvPr id="2050431459" name="Rectangle 9"/>
          <p:cNvSpPr/>
          <p:nvPr/>
        </p:nvSpPr>
        <p:spPr bwMode="auto">
          <a:xfrm flipH="0" flipV="0">
            <a:off x="5498025" y="749808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2973923" name="Rounded Rectangle 10"/>
          <p:cNvSpPr/>
          <p:nvPr/>
        </p:nvSpPr>
        <p:spPr bwMode="auto">
          <a:xfrm flipH="0" flipV="0">
            <a:off x="5498025" y="1252728"/>
            <a:ext cx="3177147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深度信息叠加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浅层鲜艳，深层暗淡，颜色同时编码震级和深度</a:t>
            </a:r>
            <a:endParaRPr/>
          </a:p>
        </p:txBody>
      </p:sp>
      <p:sp>
        <p:nvSpPr>
          <p:cNvPr id="1067575818" name="Rectangle 11"/>
          <p:cNvSpPr/>
          <p:nvPr/>
        </p:nvSpPr>
        <p:spPr bwMode="auto">
          <a:xfrm flipH="0" flipV="0">
            <a:off x="5498025" y="1252728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2497738" name="Rounded Rectangle 12"/>
          <p:cNvSpPr/>
          <p:nvPr/>
        </p:nvSpPr>
        <p:spPr bwMode="auto">
          <a:xfrm flipH="0" flipV="0">
            <a:off x="5498025" y="1755648"/>
            <a:ext cx="3177147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悬停 + 点击交互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悬停半透明描边提示，点击聚焦旋转（180° 周期）再放大</a:t>
            </a:r>
            <a:endParaRPr/>
          </a:p>
        </p:txBody>
      </p:sp>
      <p:sp>
        <p:nvSpPr>
          <p:cNvPr id="280190376" name="Rectangle 13"/>
          <p:cNvSpPr/>
          <p:nvPr/>
        </p:nvSpPr>
        <p:spPr bwMode="auto">
          <a:xfrm flipH="0" flipV="0">
            <a:off x="5498025" y="1755648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1282697" name="Rounded Rectangle 14"/>
          <p:cNvSpPr/>
          <p:nvPr/>
        </p:nvSpPr>
        <p:spPr bwMode="auto">
          <a:xfrm flipH="0" flipV="0">
            <a:off x="5498025" y="2258568"/>
            <a:ext cx="3177147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拖拽旋转 + 惯性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鼠标拖拽旋转地球，释放后按惯性继续旋转</a:t>
            </a:r>
            <a:endParaRPr/>
          </a:p>
        </p:txBody>
      </p:sp>
      <p:sp>
        <p:nvSpPr>
          <p:cNvPr id="762576225" name="Rectangle 15"/>
          <p:cNvSpPr/>
          <p:nvPr/>
        </p:nvSpPr>
        <p:spPr bwMode="auto">
          <a:xfrm flipH="0" flipV="0">
            <a:off x="5498025" y="2258568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1850282" name="Rounded Rectangle 16"/>
          <p:cNvSpPr/>
          <p:nvPr/>
        </p:nvSpPr>
        <p:spPr bwMode="auto">
          <a:xfrm flipH="0" flipV="0">
            <a:off x="5498025" y="2761488"/>
            <a:ext cx="3177147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色盲安全 + 纹理叠加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可选安全色板 + 不同纹理区分震级，支持亮暗主题</a:t>
            </a:r>
            <a:endParaRPr/>
          </a:p>
        </p:txBody>
      </p:sp>
      <p:sp>
        <p:nvSpPr>
          <p:cNvPr id="1811406608" name="Rectangle 17"/>
          <p:cNvSpPr/>
          <p:nvPr/>
        </p:nvSpPr>
        <p:spPr bwMode="auto">
          <a:xfrm flipH="0" flipV="0">
            <a:off x="5498025" y="2761488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605763" name="Rounded Rectangle 18"/>
          <p:cNvSpPr/>
          <p:nvPr/>
        </p:nvSpPr>
        <p:spPr bwMode="auto">
          <a:xfrm flipH="0" flipV="0">
            <a:off x="5498025" y="3264408"/>
            <a:ext cx="3177147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加载进度指示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解决首次加载白屏问题</a:t>
            </a:r>
            <a:endParaRPr/>
          </a:p>
        </p:txBody>
      </p:sp>
      <p:sp>
        <p:nvSpPr>
          <p:cNvPr id="1124860374" name="Rectangle 19"/>
          <p:cNvSpPr/>
          <p:nvPr/>
        </p:nvSpPr>
        <p:spPr bwMode="auto">
          <a:xfrm flipH="0" flipV="0">
            <a:off x="5498025" y="3264408"/>
            <a:ext cx="4572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692362" name="Rectangle 1"/>
          <p:cNvSpPr/>
          <p:nvPr/>
        </p:nvSpPr>
        <p:spPr bwMode="auto">
          <a:xfrm>
            <a:off x="384048" y="256032"/>
            <a:ext cx="4572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3059873" name="TextBox 2"/>
          <p:cNvSpPr txBox="1"/>
          <p:nvPr/>
        </p:nvSpPr>
        <p:spPr bwMode="auto">
          <a:xfrm>
            <a:off x="5029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rPr/>
              <a:t>Chart 4 · 气泡地图 Bubble Map</a:t>
            </a:r>
            <a:endParaRPr/>
          </a:p>
        </p:txBody>
      </p:sp>
      <p:sp>
        <p:nvSpPr>
          <p:cNvPr id="1423448186" name="Rectangle 3"/>
          <p:cNvSpPr/>
          <p:nvPr/>
        </p:nvSpPr>
        <p:spPr bwMode="auto">
          <a:xfrm>
            <a:off x="6785590" y="416052"/>
            <a:ext cx="10972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1A1A2E"/>
                </a:solidFill>
                <a:latin typeface="Arial"/>
              </a:defRPr>
            </a:pPr>
            <a:r>
              <a:rPr/>
              <a:t>原图分析</a:t>
            </a:r>
            <a:endParaRPr/>
          </a:p>
        </p:txBody>
      </p:sp>
      <p:pic>
        <p:nvPicPr>
          <p:cNvPr id="1948282832" name="Picture 4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842122"/>
            <a:ext cx="2011680" cy="1241834"/>
          </a:xfrm>
          <a:prstGeom prst="rect">
            <a:avLst/>
          </a:prstGeom>
        </p:spPr>
      </p:pic>
      <p:sp>
        <p:nvSpPr>
          <p:cNvPr id="315461344" name="TextBox 5"/>
          <p:cNvSpPr txBox="1"/>
          <p:nvPr/>
        </p:nvSpPr>
        <p:spPr bwMode="auto">
          <a:xfrm>
            <a:off x="457200" y="2194560"/>
            <a:ext cx="2022479" cy="217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原图 — 局部展示</a:t>
            </a:r>
            <a:endParaRPr/>
          </a:p>
        </p:txBody>
      </p:sp>
      <p:pic>
        <p:nvPicPr>
          <p:cNvPr id="1579482605" name="Picture 6" descr="image-2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651760" y="814897"/>
            <a:ext cx="2011680" cy="1296283"/>
          </a:xfrm>
          <a:prstGeom prst="rect">
            <a:avLst/>
          </a:prstGeom>
        </p:spPr>
      </p:pic>
      <p:sp>
        <p:nvSpPr>
          <p:cNvPr id="490407444" name="TextBox 7"/>
          <p:cNvSpPr txBox="1"/>
          <p:nvPr/>
        </p:nvSpPr>
        <p:spPr bwMode="auto">
          <a:xfrm>
            <a:off x="2651760" y="2194560"/>
            <a:ext cx="2017439" cy="217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原图 — 概览</a:t>
            </a:r>
            <a:endParaRPr/>
          </a:p>
        </p:txBody>
      </p:sp>
      <p:pic>
        <p:nvPicPr>
          <p:cNvPr id="480197613" name="Picture 8" descr="image-14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97691" y="2377440"/>
            <a:ext cx="1730696" cy="1371600"/>
          </a:xfrm>
          <a:prstGeom prst="rect">
            <a:avLst/>
          </a:prstGeom>
        </p:spPr>
      </p:pic>
      <p:sp>
        <p:nvSpPr>
          <p:cNvPr id="1227880643" name="TextBox 9"/>
          <p:cNvSpPr txBox="1"/>
          <p:nvPr/>
        </p:nvSpPr>
        <p:spPr bwMode="auto">
          <a:xfrm>
            <a:off x="457200" y="37947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原图 — 无高亮引导</a:t>
            </a:r>
            <a:endParaRPr/>
          </a:p>
        </p:txBody>
      </p:sp>
      <p:pic>
        <p:nvPicPr>
          <p:cNvPr id="1081612261" name="Picture 10" descr="image-3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651760" y="2400101"/>
            <a:ext cx="2011680" cy="1326276"/>
          </a:xfrm>
          <a:prstGeom prst="rect">
            <a:avLst/>
          </a:prstGeom>
        </p:spPr>
      </p:pic>
      <p:sp>
        <p:nvSpPr>
          <p:cNvPr id="376867680" name="TextBox 11"/>
          <p:cNvSpPr txBox="1"/>
          <p:nvPr/>
        </p:nvSpPr>
        <p:spPr bwMode="auto">
          <a:xfrm>
            <a:off x="2651760" y="37947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棕色对色盲几乎不可见</a:t>
            </a:r>
            <a:endParaRPr/>
          </a:p>
        </p:txBody>
      </p:sp>
      <p:sp>
        <p:nvSpPr>
          <p:cNvPr id="1803675451" name="Rounded Rectangle 12"/>
          <p:cNvSpPr/>
          <p:nvPr/>
        </p:nvSpPr>
        <p:spPr bwMode="auto">
          <a:xfrm flipH="0" flipV="0">
            <a:off x="6073101" y="722376"/>
            <a:ext cx="2522257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1  单色棕色无区分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所有气泡同色，无法区分人口量级</a:t>
            </a:r>
            <a:endParaRPr/>
          </a:p>
        </p:txBody>
      </p:sp>
      <p:sp>
        <p:nvSpPr>
          <p:cNvPr id="404706319" name="Rectangle 13"/>
          <p:cNvSpPr/>
          <p:nvPr/>
        </p:nvSpPr>
        <p:spPr bwMode="auto">
          <a:xfrm flipH="0" flipV="0">
            <a:off x="6073101" y="722376"/>
            <a:ext cx="57938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4040327" name="Rounded Rectangle 14"/>
          <p:cNvSpPr/>
          <p:nvPr/>
        </p:nvSpPr>
        <p:spPr bwMode="auto">
          <a:xfrm flipH="0" flipV="0">
            <a:off x="6073101" y="1197864"/>
            <a:ext cx="2522257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2  重叠严重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人口密集区气泡重叠，无法细致探索</a:t>
            </a:r>
            <a:endParaRPr/>
          </a:p>
        </p:txBody>
      </p:sp>
      <p:sp>
        <p:nvSpPr>
          <p:cNvPr id="2144336574" name="Rectangle 15"/>
          <p:cNvSpPr/>
          <p:nvPr/>
        </p:nvSpPr>
        <p:spPr bwMode="auto">
          <a:xfrm flipH="0" flipV="0">
            <a:off x="6073101" y="1197864"/>
            <a:ext cx="57938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0495732" name="Rounded Rectangle 16"/>
          <p:cNvSpPr/>
          <p:nvPr/>
        </p:nvSpPr>
        <p:spPr bwMode="auto">
          <a:xfrm flipH="0" flipV="0">
            <a:off x="6073101" y="1664208"/>
            <a:ext cx="2522257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3  无缩放筛选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仅提供悬停提示，无法缩放、筛选、聚焦</a:t>
            </a:r>
            <a:endParaRPr/>
          </a:p>
        </p:txBody>
      </p:sp>
      <p:sp>
        <p:nvSpPr>
          <p:cNvPr id="1563997263" name="Rectangle 17"/>
          <p:cNvSpPr/>
          <p:nvPr/>
        </p:nvSpPr>
        <p:spPr bwMode="auto">
          <a:xfrm flipH="0" flipV="0">
            <a:off x="6073101" y="1664208"/>
            <a:ext cx="57938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5389214" name="Rounded Rectangle 18"/>
          <p:cNvSpPr/>
          <p:nvPr/>
        </p:nvSpPr>
        <p:spPr bwMode="auto">
          <a:xfrm flipH="0" flipV="0">
            <a:off x="6073101" y="2148840"/>
            <a:ext cx="2522257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4  色盲不可见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棕色对某些色盲人群接近不可见</a:t>
            </a:r>
            <a:endParaRPr/>
          </a:p>
        </p:txBody>
      </p:sp>
      <p:sp>
        <p:nvSpPr>
          <p:cNvPr id="1104284110" name="Rectangle 19"/>
          <p:cNvSpPr/>
          <p:nvPr/>
        </p:nvSpPr>
        <p:spPr bwMode="auto">
          <a:xfrm flipH="0" flipV="0">
            <a:off x="6073101" y="2148840"/>
            <a:ext cx="57938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2536165" name="Rounded Rectangle 20"/>
          <p:cNvSpPr/>
          <p:nvPr/>
        </p:nvSpPr>
        <p:spPr bwMode="auto">
          <a:xfrm flipH="0" flipV="0">
            <a:off x="6073101" y="2624328"/>
            <a:ext cx="2522257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5  性能问题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无视口剔除，缩放时重新绘制所有圆</a:t>
            </a:r>
            <a:endParaRPr/>
          </a:p>
        </p:txBody>
      </p:sp>
      <p:sp>
        <p:nvSpPr>
          <p:cNvPr id="436550293" name="Rectangle 21"/>
          <p:cNvSpPr/>
          <p:nvPr/>
        </p:nvSpPr>
        <p:spPr bwMode="auto">
          <a:xfrm flipH="0" flipV="0">
            <a:off x="6073101" y="2624328"/>
            <a:ext cx="57938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8082317" name="Rounded Rectangle 22"/>
          <p:cNvSpPr/>
          <p:nvPr/>
        </p:nvSpPr>
        <p:spPr bwMode="auto">
          <a:xfrm flipH="0" flipV="0">
            <a:off x="6073101" y="3099816"/>
            <a:ext cx="2522257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/>
              <a:t>6  无前注意引导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无高亮、淡化，需逐个悬停获取信息</a:t>
            </a:r>
            <a:endParaRPr/>
          </a:p>
        </p:txBody>
      </p:sp>
      <p:sp>
        <p:nvSpPr>
          <p:cNvPr id="487458105" name="Rectangle 23"/>
          <p:cNvSpPr/>
          <p:nvPr/>
        </p:nvSpPr>
        <p:spPr bwMode="auto">
          <a:xfrm flipH="0" flipV="0">
            <a:off x="6073101" y="3099816"/>
            <a:ext cx="57938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9993176" name="TextBox 24"/>
          <p:cNvSpPr txBox="1"/>
          <p:nvPr/>
        </p:nvSpPr>
        <p:spPr bwMode="auto">
          <a:xfrm>
            <a:off x="365760" y="47091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800">
                <a:solidFill>
                  <a:srgbClr val="5A6A8A"/>
                </a:solidFill>
                <a:latin typeface="Arial"/>
              </a:rPr>
              <a:t>原图来源：</a:t>
            </a:r>
            <a:r>
              <a:rPr sz="800" u="sng">
                <a:solidFill>
                  <a:srgbClr val="00D4FF"/>
                </a:solidFill>
                <a:latin typeface="Arial"/>
                <a:hlinkClick r:id="rId7" tooltip=""/>
              </a:rPr>
              <a:t>https://observablehq.com/@d3/bubble-map/2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784284" name="Rectangle 1"/>
          <p:cNvSpPr/>
          <p:nvPr/>
        </p:nvSpPr>
        <p:spPr bwMode="auto">
          <a:xfrm>
            <a:off x="384048" y="256032"/>
            <a:ext cx="4572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3866334" name="TextBox 2"/>
          <p:cNvSpPr txBox="1"/>
          <p:nvPr/>
        </p:nvSpPr>
        <p:spPr bwMode="auto">
          <a:xfrm>
            <a:off x="50292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rPr/>
              <a:t>Chart 4 · 气泡地图改进</a:t>
            </a:r>
            <a:endParaRPr/>
          </a:p>
        </p:txBody>
      </p:sp>
      <p:sp>
        <p:nvSpPr>
          <p:cNvPr id="1511102305" name="Rectangle 3"/>
          <p:cNvSpPr/>
          <p:nvPr/>
        </p:nvSpPr>
        <p:spPr bwMode="auto">
          <a:xfrm>
            <a:off x="7086600" y="466344"/>
            <a:ext cx="10972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1A1A2E"/>
                </a:solidFill>
                <a:latin typeface="Arial"/>
              </a:defRPr>
            </a:pPr>
            <a:r>
              <a:rPr/>
              <a:t>缩放 · 筛选 · 性能</a:t>
            </a:r>
            <a:endParaRPr/>
          </a:p>
        </p:txBody>
      </p:sp>
      <p:pic>
        <p:nvPicPr>
          <p:cNvPr id="2081126205" name="Picture 4" descr="image-4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0040" y="819647"/>
            <a:ext cx="1828800" cy="1286784"/>
          </a:xfrm>
          <a:prstGeom prst="rect">
            <a:avLst/>
          </a:prstGeom>
        </p:spPr>
      </p:pic>
      <p:sp>
        <p:nvSpPr>
          <p:cNvPr id="2121710279" name="TextBox 5"/>
          <p:cNvSpPr txBox="1"/>
          <p:nvPr/>
        </p:nvSpPr>
        <p:spPr bwMode="auto">
          <a:xfrm>
            <a:off x="320040" y="2194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缩放/平移 + 州聚焦</a:t>
            </a:r>
            <a:endParaRPr/>
          </a:p>
        </p:txBody>
      </p:sp>
      <p:pic>
        <p:nvPicPr>
          <p:cNvPr id="1123931185" name="Picture 6" descr="image-5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331720" y="838487"/>
            <a:ext cx="1828800" cy="1249104"/>
          </a:xfrm>
          <a:prstGeom prst="rect">
            <a:avLst/>
          </a:prstGeom>
        </p:spPr>
      </p:pic>
      <p:sp>
        <p:nvSpPr>
          <p:cNvPr id="1420931354" name="TextBox 7"/>
          <p:cNvSpPr txBox="1"/>
          <p:nvPr/>
        </p:nvSpPr>
        <p:spPr bwMode="auto">
          <a:xfrm>
            <a:off x="2331720" y="2194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YlOrRd 对数色标</a:t>
            </a:r>
            <a:endParaRPr/>
          </a:p>
        </p:txBody>
      </p:sp>
      <p:pic>
        <p:nvPicPr>
          <p:cNvPr id="660228640" name="Picture 8" descr="image-8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343922" y="777240"/>
            <a:ext cx="1827754" cy="1371600"/>
          </a:xfrm>
          <a:prstGeom prst="rect">
            <a:avLst/>
          </a:prstGeom>
        </p:spPr>
      </p:pic>
      <p:sp>
        <p:nvSpPr>
          <p:cNvPr id="951971500" name="TextBox 9"/>
          <p:cNvSpPr txBox="1"/>
          <p:nvPr/>
        </p:nvSpPr>
        <p:spPr bwMode="auto">
          <a:xfrm>
            <a:off x="4343400" y="2194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色盲友好效果</a:t>
            </a:r>
            <a:endParaRPr/>
          </a:p>
        </p:txBody>
      </p:sp>
      <p:pic>
        <p:nvPicPr>
          <p:cNvPr id="1633400805" name="Picture 10" descr="image-7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20040" y="2514796"/>
            <a:ext cx="1828800" cy="1096887"/>
          </a:xfrm>
          <a:prstGeom prst="rect">
            <a:avLst/>
          </a:prstGeom>
        </p:spPr>
      </p:pic>
      <p:sp>
        <p:nvSpPr>
          <p:cNvPr id="1095593393" name="TextBox 11"/>
          <p:cNvSpPr txBox="1"/>
          <p:nvPr/>
        </p:nvSpPr>
        <p:spPr bwMode="auto">
          <a:xfrm>
            <a:off x="320040" y="37947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范围高亮 + 悬停红边</a:t>
            </a:r>
            <a:endParaRPr/>
          </a:p>
        </p:txBody>
      </p:sp>
      <p:pic>
        <p:nvPicPr>
          <p:cNvPr id="662826776" name="Picture 12" descr="image-9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2331720" y="2958814"/>
            <a:ext cx="1828800" cy="208850"/>
          </a:xfrm>
          <a:prstGeom prst="rect">
            <a:avLst/>
          </a:prstGeom>
        </p:spPr>
      </p:pic>
      <p:sp>
        <p:nvSpPr>
          <p:cNvPr id="890122366" name="TextBox 13"/>
          <p:cNvSpPr txBox="1"/>
          <p:nvPr/>
        </p:nvSpPr>
        <p:spPr bwMode="auto">
          <a:xfrm>
            <a:off x="2331720" y="37947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视口剔除 + 离屏缓存</a:t>
            </a:r>
            <a:endParaRPr/>
          </a:p>
        </p:txBody>
      </p:sp>
      <p:pic>
        <p:nvPicPr>
          <p:cNvPr id="1842044932" name="Picture 14" descr="image-15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4467921" y="2377440"/>
            <a:ext cx="1579756" cy="1371600"/>
          </a:xfrm>
          <a:prstGeom prst="rect">
            <a:avLst/>
          </a:prstGeom>
        </p:spPr>
      </p:pic>
      <p:sp>
        <p:nvSpPr>
          <p:cNvPr id="1826313239" name="TextBox 15"/>
          <p:cNvSpPr txBox="1"/>
          <p:nvPr/>
        </p:nvSpPr>
        <p:spPr bwMode="auto">
          <a:xfrm>
            <a:off x="4343400" y="37947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A8A"/>
                </a:solidFill>
                <a:latin typeface="Arial"/>
              </a:defRPr>
            </a:pPr>
            <a:r>
              <a:rPr/>
              <a:t>州下拉菜单筛选</a:t>
            </a:r>
            <a:endParaRPr/>
          </a:p>
        </p:txBody>
      </p:sp>
      <p:sp>
        <p:nvSpPr>
          <p:cNvPr id="1922105287" name="Rounded Rectangle 16"/>
          <p:cNvSpPr/>
          <p:nvPr/>
        </p:nvSpPr>
        <p:spPr bwMode="auto">
          <a:xfrm>
            <a:off x="6400800" y="77724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D3 Zoom 缩放平移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支持平滑过渡与视口自适应</a:t>
            </a:r>
            <a:endParaRPr/>
          </a:p>
        </p:txBody>
      </p:sp>
      <p:sp>
        <p:nvSpPr>
          <p:cNvPr id="1396381711" name="Rectangle 17"/>
          <p:cNvSpPr/>
          <p:nvPr/>
        </p:nvSpPr>
        <p:spPr bwMode="auto">
          <a:xfrm>
            <a:off x="6400800" y="777240"/>
            <a:ext cx="36576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7098668" name="Rounded Rectangle 18"/>
          <p:cNvSpPr/>
          <p:nvPr/>
        </p:nvSpPr>
        <p:spPr bwMode="auto">
          <a:xfrm>
            <a:off x="6400800" y="128016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对数颜色映射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YlOrRd 色标，亮度变化显著</a:t>
            </a:r>
            <a:endParaRPr/>
          </a:p>
        </p:txBody>
      </p:sp>
      <p:sp>
        <p:nvSpPr>
          <p:cNvPr id="689511224" name="Rectangle 19"/>
          <p:cNvSpPr/>
          <p:nvPr/>
        </p:nvSpPr>
        <p:spPr bwMode="auto">
          <a:xfrm>
            <a:off x="6400800" y="1280160"/>
            <a:ext cx="36576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9208175" name="Rounded Rectangle 20"/>
          <p:cNvSpPr/>
          <p:nvPr/>
        </p:nvSpPr>
        <p:spPr bwMode="auto">
          <a:xfrm>
            <a:off x="6400800" y="178308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刷选范围高亮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符合范围保持正常透明度，不符合者淡化</a:t>
            </a:r>
            <a:endParaRPr/>
          </a:p>
        </p:txBody>
      </p:sp>
      <p:sp>
        <p:nvSpPr>
          <p:cNvPr id="295619612" name="Rectangle 21"/>
          <p:cNvSpPr/>
          <p:nvPr/>
        </p:nvSpPr>
        <p:spPr bwMode="auto">
          <a:xfrm>
            <a:off x="6400800" y="1783080"/>
            <a:ext cx="36576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7919085" name="Rounded Rectangle 22"/>
          <p:cNvSpPr/>
          <p:nvPr/>
        </p:nvSpPr>
        <p:spPr bwMode="auto">
          <a:xfrm>
            <a:off x="6400800" y="228600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悬停红边弹出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红色描边利用前注意弹出效果</a:t>
            </a:r>
            <a:endParaRPr/>
          </a:p>
        </p:txBody>
      </p:sp>
      <p:sp>
        <p:nvSpPr>
          <p:cNvPr id="237725538" name="Rectangle 23"/>
          <p:cNvSpPr/>
          <p:nvPr/>
        </p:nvSpPr>
        <p:spPr bwMode="auto">
          <a:xfrm>
            <a:off x="6400800" y="2286000"/>
            <a:ext cx="36576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0142696" name="Rounded Rectangle 24"/>
          <p:cNvSpPr/>
          <p:nvPr/>
        </p:nvSpPr>
        <p:spPr bwMode="auto">
          <a:xfrm>
            <a:off x="6400800" y="278892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州下拉 + 人口刷选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D3 Brush 按行政区划和人口阈值动态过滤</a:t>
            </a:r>
            <a:endParaRPr/>
          </a:p>
        </p:txBody>
      </p:sp>
      <p:sp>
        <p:nvSpPr>
          <p:cNvPr id="1989119436" name="Rectangle 25"/>
          <p:cNvSpPr/>
          <p:nvPr/>
        </p:nvSpPr>
        <p:spPr bwMode="auto">
          <a:xfrm>
            <a:off x="6400800" y="2788920"/>
            <a:ext cx="36576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4440288" name="Rounded Rectangle 26"/>
          <p:cNvSpPr/>
          <p:nvPr/>
        </p:nvSpPr>
        <p:spPr bwMode="auto">
          <a:xfrm>
            <a:off x="6400800" y="3291840"/>
            <a:ext cx="2468880" cy="475488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/>
              <a:t>视口剔除 + 离屏缓存</a:t>
            </a:r>
            <a:endParaRPr/>
          </a:p>
          <a:p>
            <a:pPr algn="ctr">
              <a:defRPr sz="900">
                <a:solidFill>
                  <a:srgbClr val="D0D0E0"/>
                </a:solidFill>
                <a:latin typeface="Arial"/>
              </a:defRPr>
            </a:pPr>
            <a:r>
              <a:rPr/>
              <a:t>双 Canvas 架构，仅绘制视野内气泡</a:t>
            </a:r>
            <a:endParaRPr/>
          </a:p>
        </p:txBody>
      </p:sp>
      <p:sp>
        <p:nvSpPr>
          <p:cNvPr id="160421735" name="Rectangle 27"/>
          <p:cNvSpPr/>
          <p:nvPr/>
        </p:nvSpPr>
        <p:spPr bwMode="auto">
          <a:xfrm>
            <a:off x="6400800" y="3291840"/>
            <a:ext cx="36576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9864327" name="Rectangle 28"/>
          <p:cNvSpPr/>
          <p:nvPr/>
        </p:nvSpPr>
        <p:spPr bwMode="auto">
          <a:xfrm flipH="0" flipV="0">
            <a:off x="320040" y="4434839"/>
            <a:ext cx="4189194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8373757" name="Rectangle 29"/>
          <p:cNvSpPr/>
          <p:nvPr/>
        </p:nvSpPr>
        <p:spPr bwMode="auto">
          <a:xfrm>
            <a:off x="320040" y="4434840"/>
            <a:ext cx="36576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2916356" name="TextBox 30"/>
          <p:cNvSpPr txBox="1"/>
          <p:nvPr/>
        </p:nvSpPr>
        <p:spPr bwMode="auto">
          <a:xfrm>
            <a:off x="457200" y="44531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  <a:latin typeface="Arial"/>
              </a:defRPr>
            </a:pPr>
            <a:r>
              <a:rPr/>
              <a:t>Weber-Fechner 定律</a:t>
            </a:r>
            <a:endParaRPr/>
          </a:p>
        </p:txBody>
      </p:sp>
      <p:sp>
        <p:nvSpPr>
          <p:cNvPr id="2055752983" name="TextBox 31"/>
          <p:cNvSpPr txBox="1"/>
          <p:nvPr/>
        </p:nvSpPr>
        <p:spPr bwMode="auto">
          <a:xfrm flipH="0" flipV="0">
            <a:off x="502920" y="4636008"/>
            <a:ext cx="4006314" cy="21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0D0E0"/>
                </a:solidFill>
                <a:latin typeface="Arial"/>
              </a:defRPr>
            </a:pPr>
            <a:r>
              <a:rPr/>
              <a:t>人口跨越 5-6 个数量级，线性映射 99% 气泡挤在同一区间 → 对数映射压缩动态范围</a:t>
            </a:r>
            <a:endParaRPr/>
          </a:p>
        </p:txBody>
      </p:sp>
      <p:sp>
        <p:nvSpPr>
          <p:cNvPr id="169709240" name="Rectangle 32"/>
          <p:cNvSpPr/>
          <p:nvPr/>
        </p:nvSpPr>
        <p:spPr bwMode="auto">
          <a:xfrm flipH="0" flipV="0">
            <a:off x="4704109" y="4453128"/>
            <a:ext cx="416557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0330318" name="Rectangle 33"/>
          <p:cNvSpPr/>
          <p:nvPr/>
        </p:nvSpPr>
        <p:spPr bwMode="auto">
          <a:xfrm>
            <a:off x="4704109" y="4453128"/>
            <a:ext cx="36576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3465421" name="TextBox 34"/>
          <p:cNvSpPr txBox="1"/>
          <p:nvPr/>
        </p:nvSpPr>
        <p:spPr bwMode="auto">
          <a:xfrm>
            <a:off x="4841269" y="447141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  <a:latin typeface="Arial"/>
              </a:defRPr>
            </a:pPr>
            <a:r>
              <a:rPr/>
              <a:t>Treisman 前注意特征理论 (1985)</a:t>
            </a:r>
            <a:endParaRPr/>
          </a:p>
        </p:txBody>
      </p:sp>
      <p:sp>
        <p:nvSpPr>
          <p:cNvPr id="1664546266" name="TextBox 35"/>
          <p:cNvSpPr txBox="1"/>
          <p:nvPr/>
        </p:nvSpPr>
        <p:spPr bwMode="auto">
          <a:xfrm>
            <a:off x="4841269" y="46542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0D0E0"/>
                </a:solidFill>
                <a:latin typeface="Arial"/>
              </a:defRPr>
            </a:pPr>
            <a:r>
              <a:rPr/>
              <a:t>人眼 200ms 内自动检测颜色/大小/亮度突变，红色描边触发前注意处理，无需逐个扫描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860123" name="TextBox 1"/>
          <p:cNvSpPr txBox="1"/>
          <p:nvPr/>
        </p:nvSpPr>
        <p:spPr bwMode="auto"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rPr/>
              <a:t>总结</a:t>
            </a:r>
            <a:endParaRPr/>
          </a:p>
        </p:txBody>
      </p:sp>
      <p:sp>
        <p:nvSpPr>
          <p:cNvPr id="706501234" name="Rectangle 2"/>
          <p:cNvSpPr/>
          <p:nvPr/>
        </p:nvSpPr>
        <p:spPr bwMode="auto">
          <a:xfrm>
            <a:off x="457200" y="914400"/>
            <a:ext cx="173736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4252405" name="Rectangle 3"/>
          <p:cNvSpPr/>
          <p:nvPr/>
        </p:nvSpPr>
        <p:spPr bwMode="auto">
          <a:xfrm>
            <a:off x="457200" y="914400"/>
            <a:ext cx="173736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1407777" name="TextBox 4"/>
          <p:cNvSpPr txBox="1"/>
          <p:nvPr/>
        </p:nvSpPr>
        <p:spPr bwMode="auto">
          <a:xfrm>
            <a:off x="457200" y="1051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Arial"/>
              </a:defRPr>
            </a:pPr>
            <a:r>
              <a:rPr/>
              <a:t>1</a:t>
            </a:r>
            <a:endParaRPr/>
          </a:p>
        </p:txBody>
      </p:sp>
      <p:sp>
        <p:nvSpPr>
          <p:cNvPr id="1951375139" name="TextBox 5"/>
          <p:cNvSpPr txBox="1"/>
          <p:nvPr/>
        </p:nvSpPr>
        <p:spPr bwMode="auto">
          <a:xfrm>
            <a:off x="457200" y="14173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/>
              <a:t>色盲适配</a:t>
            </a:r>
            <a:endParaRPr/>
          </a:p>
        </p:txBody>
      </p:sp>
      <p:sp>
        <p:nvSpPr>
          <p:cNvPr id="1111481642" name="TextBox 6"/>
          <p:cNvSpPr txBox="1"/>
          <p:nvPr/>
        </p:nvSpPr>
        <p:spPr bwMode="auto">
          <a:xfrm>
            <a:off x="457200" y="16916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B8"/>
                </a:solidFill>
                <a:latin typeface="Arial"/>
              </a:defRPr>
            </a:pPr>
            <a:r>
              <a:rPr/>
              <a:t>Tableau10 调色板</a:t>
            </a:r>
            <a:endParaRPr/>
          </a:p>
        </p:txBody>
      </p:sp>
      <p:sp>
        <p:nvSpPr>
          <p:cNvPr id="52877491" name="TextBox 7"/>
          <p:cNvSpPr txBox="1"/>
          <p:nvPr/>
        </p:nvSpPr>
        <p:spPr bwMode="auto">
          <a:xfrm>
            <a:off x="457200" y="19202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B8"/>
                </a:solidFill>
                <a:latin typeface="Arial"/>
              </a:defRPr>
            </a:pPr>
            <a:r>
              <a:rPr/>
              <a:t>YlOrRd 亮度变化</a:t>
            </a:r>
            <a:endParaRPr/>
          </a:p>
        </p:txBody>
      </p:sp>
      <p:sp>
        <p:nvSpPr>
          <p:cNvPr id="77677758" name="TextBox 8"/>
          <p:cNvSpPr txBox="1"/>
          <p:nvPr/>
        </p:nvSpPr>
        <p:spPr bwMode="auto">
          <a:xfrm>
            <a:off x="457200" y="21488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B8"/>
                </a:solidFill>
                <a:latin typeface="Arial"/>
              </a:defRPr>
            </a:pPr>
            <a:r>
              <a:rPr/>
              <a:t>连续着色替代离散桶</a:t>
            </a:r>
            <a:endParaRPr/>
          </a:p>
        </p:txBody>
      </p:sp>
      <p:sp>
        <p:nvSpPr>
          <p:cNvPr id="353927024" name="Rectangle 9"/>
          <p:cNvSpPr/>
          <p:nvPr/>
        </p:nvSpPr>
        <p:spPr bwMode="auto">
          <a:xfrm>
            <a:off x="2377440" y="914400"/>
            <a:ext cx="173736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1043189" name="Rectangle 10"/>
          <p:cNvSpPr/>
          <p:nvPr/>
        </p:nvSpPr>
        <p:spPr bwMode="auto">
          <a:xfrm>
            <a:off x="2377440" y="914400"/>
            <a:ext cx="173736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5743309" name="TextBox 11"/>
          <p:cNvSpPr txBox="1"/>
          <p:nvPr/>
        </p:nvSpPr>
        <p:spPr bwMode="auto">
          <a:xfrm>
            <a:off x="2377440" y="1051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Arial"/>
              </a:defRPr>
            </a:pPr>
            <a:r>
              <a:rPr/>
              <a:t>2</a:t>
            </a:r>
            <a:endParaRPr/>
          </a:p>
        </p:txBody>
      </p:sp>
      <p:sp>
        <p:nvSpPr>
          <p:cNvPr id="319517813" name="TextBox 12"/>
          <p:cNvSpPr txBox="1"/>
          <p:nvPr/>
        </p:nvSpPr>
        <p:spPr bwMode="auto">
          <a:xfrm>
            <a:off x="2377440" y="14173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/>
              <a:t>交互增强</a:t>
            </a:r>
            <a:endParaRPr/>
          </a:p>
        </p:txBody>
      </p:sp>
      <p:sp>
        <p:nvSpPr>
          <p:cNvPr id="1913496860" name="TextBox 13"/>
          <p:cNvSpPr txBox="1"/>
          <p:nvPr/>
        </p:nvSpPr>
        <p:spPr bwMode="auto">
          <a:xfrm>
            <a:off x="2377440" y="16916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B8"/>
                </a:solidFill>
                <a:latin typeface="Arial"/>
              </a:defRPr>
            </a:pPr>
            <a:r>
              <a:rPr/>
              <a:t>悬停高亮</a:t>
            </a:r>
            <a:endParaRPr/>
          </a:p>
        </p:txBody>
      </p:sp>
      <p:sp>
        <p:nvSpPr>
          <p:cNvPr id="392976830" name="TextBox 14"/>
          <p:cNvSpPr txBox="1"/>
          <p:nvPr/>
        </p:nvSpPr>
        <p:spPr bwMode="auto">
          <a:xfrm>
            <a:off x="2377440" y="19202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B8"/>
                </a:solidFill>
                <a:latin typeface="Arial"/>
              </a:defRPr>
            </a:pPr>
            <a:r>
              <a:rPr/>
              <a:t>点击聚焦</a:t>
            </a:r>
            <a:endParaRPr/>
          </a:p>
        </p:txBody>
      </p:sp>
      <p:sp>
        <p:nvSpPr>
          <p:cNvPr id="527260136" name="TextBox 15"/>
          <p:cNvSpPr txBox="1"/>
          <p:nvPr/>
        </p:nvSpPr>
        <p:spPr bwMode="auto">
          <a:xfrm>
            <a:off x="2377440" y="21488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B8"/>
                </a:solidFill>
                <a:latin typeface="Arial"/>
              </a:defRPr>
            </a:pPr>
            <a:r>
              <a:rPr/>
              <a:t>缩放平移</a:t>
            </a:r>
            <a:endParaRPr/>
          </a:p>
        </p:txBody>
      </p:sp>
      <p:sp>
        <p:nvSpPr>
          <p:cNvPr id="1691894465" name="TextBox 16"/>
          <p:cNvSpPr txBox="1"/>
          <p:nvPr/>
        </p:nvSpPr>
        <p:spPr bwMode="auto">
          <a:xfrm>
            <a:off x="2377440" y="23774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B8"/>
                </a:solidFill>
                <a:latin typeface="Arial"/>
              </a:defRPr>
            </a:pPr>
            <a:r>
              <a:rPr/>
              <a:t>刷选筛选</a:t>
            </a:r>
            <a:endParaRPr/>
          </a:p>
        </p:txBody>
      </p:sp>
      <p:sp>
        <p:nvSpPr>
          <p:cNvPr id="834305402" name="Rectangle 17"/>
          <p:cNvSpPr/>
          <p:nvPr/>
        </p:nvSpPr>
        <p:spPr bwMode="auto">
          <a:xfrm>
            <a:off x="4297680" y="914400"/>
            <a:ext cx="173736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3184" name="Rectangle 18"/>
          <p:cNvSpPr/>
          <p:nvPr/>
        </p:nvSpPr>
        <p:spPr bwMode="auto">
          <a:xfrm>
            <a:off x="4297680" y="914400"/>
            <a:ext cx="173736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7544839" name="TextBox 19"/>
          <p:cNvSpPr txBox="1"/>
          <p:nvPr/>
        </p:nvSpPr>
        <p:spPr bwMode="auto">
          <a:xfrm>
            <a:off x="4297680" y="1051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Arial"/>
              </a:defRPr>
            </a:pPr>
            <a:r>
              <a:rPr/>
              <a:t>3</a:t>
            </a:r>
            <a:endParaRPr/>
          </a:p>
        </p:txBody>
      </p:sp>
      <p:sp>
        <p:nvSpPr>
          <p:cNvPr id="35571891" name="TextBox 20"/>
          <p:cNvSpPr txBox="1"/>
          <p:nvPr/>
        </p:nvSpPr>
        <p:spPr bwMode="auto">
          <a:xfrm>
            <a:off x="4297680" y="14173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/>
              <a:t>前注意特征</a:t>
            </a:r>
            <a:endParaRPr/>
          </a:p>
        </p:txBody>
      </p:sp>
      <p:sp>
        <p:nvSpPr>
          <p:cNvPr id="611548098" name="TextBox 21"/>
          <p:cNvSpPr txBox="1"/>
          <p:nvPr/>
        </p:nvSpPr>
        <p:spPr bwMode="auto">
          <a:xfrm>
            <a:off x="4297680" y="16916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B8"/>
                </a:solidFill>
                <a:latin typeface="Arial"/>
              </a:defRPr>
            </a:pPr>
            <a:r>
              <a:rPr/>
              <a:t>颜色对比</a:t>
            </a:r>
            <a:endParaRPr/>
          </a:p>
        </p:txBody>
      </p:sp>
      <p:sp>
        <p:nvSpPr>
          <p:cNvPr id="23916024" name="TextBox 22"/>
          <p:cNvSpPr txBox="1"/>
          <p:nvPr/>
        </p:nvSpPr>
        <p:spPr bwMode="auto">
          <a:xfrm>
            <a:off x="4297680" y="19202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B8"/>
                </a:solidFill>
                <a:latin typeface="Arial"/>
              </a:defRPr>
            </a:pPr>
            <a:r>
              <a:rPr/>
              <a:t>描边高亮</a:t>
            </a:r>
            <a:endParaRPr/>
          </a:p>
        </p:txBody>
      </p:sp>
      <p:sp>
        <p:nvSpPr>
          <p:cNvPr id="813460395" name="TextBox 23"/>
          <p:cNvSpPr txBox="1"/>
          <p:nvPr/>
        </p:nvSpPr>
        <p:spPr bwMode="auto">
          <a:xfrm>
            <a:off x="4297680" y="21488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B8"/>
                </a:solidFill>
                <a:latin typeface="Arial"/>
              </a:defRPr>
            </a:pPr>
            <a:r>
              <a:rPr/>
              <a:t>透明度变化</a:t>
            </a:r>
            <a:endParaRPr/>
          </a:p>
        </p:txBody>
      </p:sp>
      <p:sp>
        <p:nvSpPr>
          <p:cNvPr id="1359807151" name="TextBox 24"/>
          <p:cNvSpPr txBox="1"/>
          <p:nvPr/>
        </p:nvSpPr>
        <p:spPr bwMode="auto">
          <a:xfrm>
            <a:off x="4297680" y="23774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B8"/>
                </a:solidFill>
                <a:latin typeface="Arial"/>
              </a:defRPr>
            </a:pPr>
            <a:r>
              <a:rPr/>
              <a:t>亮度差异</a:t>
            </a:r>
            <a:endParaRPr/>
          </a:p>
        </p:txBody>
      </p:sp>
      <p:sp>
        <p:nvSpPr>
          <p:cNvPr id="1302245419" name="TextBox 25"/>
          <p:cNvSpPr txBox="1"/>
          <p:nvPr/>
        </p:nvSpPr>
        <p:spPr bwMode="auto">
          <a:xfrm>
            <a:off x="6217920" y="914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rPr/>
              <a:t>理论支撑</a:t>
            </a:r>
            <a:endParaRPr/>
          </a:p>
        </p:txBody>
      </p:sp>
      <p:sp>
        <p:nvSpPr>
          <p:cNvPr id="1228265737" name="Rounded Rectangle 26"/>
          <p:cNvSpPr/>
          <p:nvPr/>
        </p:nvSpPr>
        <p:spPr bwMode="auto">
          <a:xfrm>
            <a:off x="621792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ctr">
              <a:defRPr sz="1000" b="1">
                <a:solidFill>
                  <a:srgbClr val="00D4FF"/>
                </a:solidFill>
                <a:latin typeface="Arial"/>
              </a:defRPr>
            </a:pPr>
            <a:r>
              <a:rPr/>
              <a:t>Stevens 幂律</a:t>
            </a:r>
            <a:endParaRPr/>
          </a:p>
          <a:p>
            <a:pPr>
              <a:defRPr sz="700">
                <a:solidFill>
                  <a:srgbClr val="D0D0E0"/>
                </a:solidFill>
                <a:latin typeface="Arial"/>
              </a:defRPr>
            </a:pPr>
            <a:r>
              <a:rPr/>
              <a:t>感知 = k × 强度^β</a:t>
            </a:r>
            <a:br>
              <a:rPr/>
            </a:br>
            <a:r>
              <a:rPr/>
              <a:t>面积 β≈0.7，长度 β≈1.0</a:t>
            </a:r>
            <a:br>
              <a:rPr/>
            </a:br>
            <a:r>
              <a:rPr/>
              <a:t>→ 优先用长度编码</a:t>
            </a:r>
            <a:endParaRPr/>
          </a:p>
        </p:txBody>
      </p:sp>
      <p:sp>
        <p:nvSpPr>
          <p:cNvPr id="1226747647" name="Rectangle 27"/>
          <p:cNvSpPr/>
          <p:nvPr/>
        </p:nvSpPr>
        <p:spPr bwMode="auto">
          <a:xfrm>
            <a:off x="6217920" y="1280160"/>
            <a:ext cx="36576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4825763" name="Rounded Rectangle 28"/>
          <p:cNvSpPr/>
          <p:nvPr/>
        </p:nvSpPr>
        <p:spPr bwMode="auto">
          <a:xfrm>
            <a:off x="6217920" y="1920239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ctr">
              <a:defRPr sz="1000" b="1">
                <a:solidFill>
                  <a:srgbClr val="00D4FF"/>
                </a:solidFill>
                <a:latin typeface="Arial"/>
              </a:defRPr>
            </a:pPr>
            <a:r>
              <a:rPr/>
              <a:t>Weber-Fechner</a:t>
            </a:r>
            <a:endParaRPr/>
          </a:p>
          <a:p>
            <a:pPr>
              <a:defRPr sz="700">
                <a:solidFill>
                  <a:srgbClr val="D0D0E0"/>
                </a:solidFill>
                <a:latin typeface="Arial"/>
              </a:defRPr>
            </a:pPr>
            <a:r>
              <a:rPr/>
              <a:t>感知差异是对数式的</a:t>
            </a:r>
            <a:br>
              <a:rPr/>
            </a:br>
            <a:r>
              <a:rPr/>
              <a:t>JND 与刺激强度成正比</a:t>
            </a:r>
            <a:br>
              <a:rPr/>
            </a:br>
            <a:r>
              <a:rPr/>
              <a:t>→ 对数色阶 / 感知均匀映射</a:t>
            </a:r>
            <a:endParaRPr/>
          </a:p>
        </p:txBody>
      </p:sp>
      <p:sp>
        <p:nvSpPr>
          <p:cNvPr id="178385425" name="Rectangle 29"/>
          <p:cNvSpPr/>
          <p:nvPr/>
        </p:nvSpPr>
        <p:spPr bwMode="auto">
          <a:xfrm>
            <a:off x="6217920" y="1920239"/>
            <a:ext cx="36576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6532579" name="Rounded Rectangle 30"/>
          <p:cNvSpPr/>
          <p:nvPr/>
        </p:nvSpPr>
        <p:spPr bwMode="auto">
          <a:xfrm>
            <a:off x="6217920" y="256032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ctr">
              <a:defRPr sz="1000" b="1">
                <a:solidFill>
                  <a:srgbClr val="00D4FF"/>
                </a:solidFill>
                <a:latin typeface="Arial"/>
              </a:defRPr>
            </a:pPr>
            <a:r>
              <a:rPr/>
              <a:t>Treisman 前注意</a:t>
            </a:r>
            <a:endParaRPr/>
          </a:p>
          <a:p>
            <a:pPr>
              <a:defRPr sz="700">
                <a:solidFill>
                  <a:srgbClr val="D0D0E0"/>
                </a:solidFill>
                <a:latin typeface="Arial"/>
              </a:defRPr>
            </a:pPr>
            <a:r>
              <a:rPr/>
              <a:t>200ms 自动检测特征突变</a:t>
            </a:r>
            <a:br>
              <a:rPr/>
            </a:br>
            <a:r>
              <a:rPr/>
              <a:t>颜色/大小/亮度突变</a:t>
            </a:r>
            <a:br>
              <a:rPr/>
            </a:br>
            <a:r>
              <a:rPr/>
              <a:t>→ 描边/高亮让目标弹出</a:t>
            </a:r>
            <a:endParaRPr/>
          </a:p>
        </p:txBody>
      </p:sp>
      <p:sp>
        <p:nvSpPr>
          <p:cNvPr id="2119716384" name="Rectangle 31"/>
          <p:cNvSpPr/>
          <p:nvPr/>
        </p:nvSpPr>
        <p:spPr bwMode="auto">
          <a:xfrm>
            <a:off x="6217920" y="2560320"/>
            <a:ext cx="36576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653345" name="TextBox 32"/>
          <p:cNvSpPr txBox="1"/>
          <p:nvPr/>
        </p:nvSpPr>
        <p:spPr bwMode="auto"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8"/>
                </a:solidFill>
                <a:latin typeface="Arial"/>
              </a:defRPr>
            </a:pPr>
            <a:r>
              <a:rPr/>
              <a:t>静态图表展示数据，交互式图表让用户探索数据</a:t>
            </a:r>
            <a:endParaRPr/>
          </a:p>
        </p:txBody>
      </p:sp>
      <p:sp>
        <p:nvSpPr>
          <p:cNvPr id="77901322" name="TextBox 33"/>
          <p:cNvSpPr txBox="1"/>
          <p:nvPr/>
        </p:nvSpPr>
        <p:spPr bwMode="auto">
          <a:xfrm>
            <a:off x="457200" y="3520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/>
              <a:t>感谢聆听</a:t>
            </a:r>
            <a:endParaRPr/>
          </a:p>
        </p:txBody>
      </p:sp>
      <p:sp>
        <p:nvSpPr>
          <p:cNvPr id="151098192" name="TextBox 34"/>
          <p:cNvSpPr txBox="1"/>
          <p:nvPr/>
        </p:nvSpPr>
        <p:spPr bwMode="auto">
          <a:xfrm>
            <a:off x="1371600" y="3931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u="sng">
                <a:solidFill>
                  <a:srgbClr val="00D4FF"/>
                </a:solidFill>
                <a:latin typeface="Arial"/>
                <a:hlinkClick r:id="rId3" tooltip=""/>
              </a:rPr>
              <a:t>github.com/STU-VAD/Assignment-2</a:t>
            </a:r>
            <a:r>
              <a:rPr sz="1000">
                <a:solidFill>
                  <a:srgbClr val="5A6A8A"/>
                </a:solidFill>
                <a:latin typeface="Arial"/>
              </a:rPr>
              <a:t>  |  </a:t>
            </a:r>
            <a:r>
              <a:rPr sz="1000" u="sng">
                <a:solidFill>
                  <a:srgbClr val="00D4FF"/>
                </a:solidFill>
                <a:latin typeface="Arial"/>
                <a:hlinkClick r:id="rId4" tooltip=""/>
              </a:rPr>
              <a:t>stu-vad.github.io/Assignment-2/</a:t>
            </a:r>
            <a:endParaRPr/>
          </a:p>
        </p:txBody>
      </p:sp>
      <p:sp>
        <p:nvSpPr>
          <p:cNvPr id="1465268455" name="Rectangle 35"/>
          <p:cNvSpPr/>
          <p:nvPr/>
        </p:nvSpPr>
        <p:spPr bwMode="auto">
          <a:xfrm>
            <a:off x="4114800" y="4251960"/>
            <a:ext cx="9144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2026-05-21T15:30:40Z</dcterms:modified>
  <cp:category/>
</cp:coreProperties>
</file>